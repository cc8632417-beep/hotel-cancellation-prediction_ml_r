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ember 5: CART, Random Forest, Clustering" id="{30824f22-a47f-e061-bbee-0af0352f7952}">
          <p14:sldIdLst>
            <p14:sldId id="256"/>
            <p14:sldId id="257"/>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Actual cancellation rate (%)</c:v>
                </c:pt>
              </c:strCache>
            </c:strRef>
          </c:tx>
          <c:spPr>
            <a:solidFill>
              <a:srgbClr val="2E75B6"/>
            </a:solidFill>
            <a:effectLst/>
          </c:spPr>
          <c:invertIfNegative val="0"/>
          <c:dLbls>
            <c:numFmt formatCode="0&quot;%&quot;" sourceLinked="0"/>
            <c:txPr>
              <a:bodyPr/>
              <a:lstStyle/>
              <a:p>
                <a:pPr>
                  <a:defRPr b="1" i="0" strike="noStrike" sz="1400" u="none">
                    <a:solidFill>
                      <a:srgbClr val="1F3A5F"/>
                    </a:solidFill>
                    <a:latin typeface="+mn-lt"/>
                  </a:defRPr>
                </a:pPr>
              </a:p>
            </c:txPr>
            <c:showLegendKey val="0"/>
            <c:showVal val="1"/>
            <c:showCatName val="0"/>
            <c:showSerName val="0"/>
            <c:showPercent val="0"/>
            <c:showBubbleSize val="0"/>
            <c:showLeaderLines val="0"/>
          </c:dLbls>
          <c:dPt>
            <c:idx val="0"/>
            <c:invertIfNegative val="0"/>
            <c:bubble3D val="0"/>
            <c:spPr>
              <a:solidFill>
                <a:srgbClr val="2E75B6"/>
              </a:solidFill>
              <a:effectLst/>
            </c:spPr>
          </c:dPt>
          <c:dPt>
            <c:idx val="1"/>
            <c:invertIfNegative val="0"/>
            <c:bubble3D val="0"/>
            <c:spPr>
              <a:solidFill>
                <a:srgbClr val="2E75B6"/>
              </a:solidFill>
              <a:effectLst/>
            </c:spPr>
          </c:dPt>
          <c:dPt>
            <c:idx val="2"/>
            <c:invertIfNegative val="0"/>
            <c:bubble3D val="0"/>
            <c:spPr>
              <a:solidFill>
                <a:srgbClr val="E07B39"/>
              </a:solidFill>
              <a:effectLst/>
            </c:spPr>
          </c:dPt>
          <c:dPt>
            <c:idx val="3"/>
            <c:invertIfNegative val="0"/>
            <c:bubble3D val="0"/>
            <c:spPr>
              <a:solidFill>
                <a:srgbClr val="E07B39"/>
              </a:solidFill>
              <a:effectLst/>
            </c:spPr>
          </c:dPt>
          <c:cat>
            <c:multiLvlStrRef>
              <c:f>Sheet1!$A$2:$A$5</c:f>
              <c:multiLvlStrCache>
                <c:ptCount val="4"/>
                <c:lvl>
                  <c:pt idx="0">
                    <c:v>Low
57% of bookings</c:v>
                  </c:pt>
                  <c:pt idx="1">
                    <c:v>Moderate
12%</c:v>
                  </c:pt>
                  <c:pt idx="2">
                    <c:v>High
10%</c:v>
                  </c:pt>
                  <c:pt idx="3">
                    <c:v>Very high
21%</c:v>
                  </c:pt>
                </c:lvl>
              </c:multiLvlStrCache>
            </c:multiLvlStrRef>
          </c:cat>
          <c:val>
            <c:numRef>
              <c:f>Sheet1!$B$2:$B$5</c:f>
              <c:numCache>
                <c:formatCode>General</c:formatCode>
                <c:ptCount val="4"/>
                <c:pt idx="0">
                  <c:v>4.4</c:v>
                </c:pt>
                <c:pt idx="1">
                  <c:v>30.3</c:v>
                </c:pt>
                <c:pt idx="2">
                  <c:v>68.6</c:v>
                </c:pt>
                <c:pt idx="3">
                  <c:v>96.2</c:v>
                </c:pt>
              </c:numCache>
            </c:numRef>
          </c:val>
        </c:ser>
        <c:dLbls>
          <c:numFmt formatCode="0&quot;%&quot;" sourceLinked="0"/>
          <c:txPr>
            <a:bodyPr/>
            <a:lstStyle/>
            <a:p>
              <a:pPr>
                <a:defRPr b="1" i="0" strike="noStrike" sz="1400" u="none">
                  <a:solidFill>
                    <a:srgbClr val="1F3A5F"/>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Importance</c:v>
                </c:pt>
              </c:strCache>
            </c:strRef>
          </c:tx>
          <c:spPr>
            <a:solidFill>
              <a:srgbClr val="E07B39"/>
            </a:solidFill>
            <a:effectLst/>
          </c:spPr>
          <c:invertIfNegative val="0"/>
          <c:dLbls>
            <c:numFmt formatCode="0" sourceLinked="0"/>
            <c:txPr>
              <a:bodyPr/>
              <a:lstStyle/>
              <a:p>
                <a:pPr>
                  <a:defRPr b="1" i="0" strike="noStrike" sz="1400" u="none">
                    <a:solidFill>
                      <a:srgbClr val="1F3A5F"/>
                    </a:solidFill>
                    <a:latin typeface="+mn-lt"/>
                  </a:defRPr>
                </a:pPr>
              </a:p>
            </c:txPr>
            <c:showLegendKey val="0"/>
            <c:showVal val="1"/>
            <c:showCatName val="0"/>
            <c:showSerName val="0"/>
            <c:showPercent val="0"/>
            <c:showBubbleSize val="0"/>
            <c:showLeaderLines val="0"/>
          </c:dLbls>
          <c:dPt>
            <c:idx val="0"/>
            <c:invertIfNegative val="0"/>
            <c:bubble3D val="0"/>
            <c:spPr>
              <a:solidFill>
                <a:srgbClr val="E07B39"/>
              </a:solidFill>
              <a:effectLst/>
            </c:spPr>
          </c:dPt>
          <c:dPt>
            <c:idx val="1"/>
            <c:invertIfNegative val="0"/>
            <c:bubble3D val="0"/>
            <c:spPr>
              <a:solidFill>
                <a:srgbClr val="E07B39"/>
              </a:solidFill>
              <a:effectLst/>
            </c:spPr>
          </c:dPt>
          <c:dPt>
            <c:idx val="2"/>
            <c:invertIfNegative val="0"/>
            <c:bubble3D val="0"/>
            <c:spPr>
              <a:solidFill>
                <a:srgbClr val="E07B39"/>
              </a:solidFill>
              <a:effectLst/>
            </c:spPr>
          </c:dPt>
          <c:dPt>
            <c:idx val="3"/>
            <c:invertIfNegative val="0"/>
            <c:bubble3D val="0"/>
            <c:spPr>
              <a:solidFill>
                <a:srgbClr val="E07B39"/>
              </a:solidFill>
              <a:effectLst/>
            </c:spPr>
          </c:dPt>
          <c:dPt>
            <c:idx val="4"/>
            <c:invertIfNegative val="0"/>
            <c:bubble3D val="0"/>
            <c:spPr>
              <a:solidFill>
                <a:srgbClr val="2E75B6"/>
              </a:solidFill>
              <a:effectLst/>
            </c:spPr>
          </c:dPt>
          <c:dPt>
            <c:idx val="5"/>
            <c:invertIfNegative val="0"/>
            <c:bubble3D val="0"/>
            <c:spPr>
              <a:solidFill>
                <a:srgbClr val="2E75B6"/>
              </a:solidFill>
              <a:effectLst/>
            </c:spPr>
          </c:dPt>
          <c:dPt>
            <c:idx val="6"/>
            <c:invertIfNegative val="0"/>
            <c:bubble3D val="0"/>
            <c:spPr>
              <a:solidFill>
                <a:srgbClr val="2E75B6"/>
              </a:solidFill>
              <a:effectLst/>
            </c:spPr>
          </c:dPt>
          <c:dPt>
            <c:idx val="7"/>
            <c:invertIfNegative val="0"/>
            <c:bubble3D val="0"/>
            <c:spPr>
              <a:solidFill>
                <a:srgbClr val="2E75B6"/>
              </a:solidFill>
              <a:effectLst/>
            </c:spPr>
          </c:dPt>
          <c:cat>
            <c:multiLvlStrRef>
              <c:f>Sheet1!$A$2:$A$9</c:f>
              <c:multiLvlStrCache>
                <c:ptCount val="8"/>
                <c:lvl>
                  <c:pt idx="0">
                    <c:v>Lead time</c:v>
                  </c:pt>
                  <c:pt idx="1">
                    <c:v>Special requests</c:v>
                  </c:pt>
                  <c:pt idx="2">
                    <c:v>Room price</c:v>
                  </c:pt>
                  <c:pt idx="3">
                    <c:v>Booking channel</c:v>
                  </c:pt>
                  <c:pt idx="4">
                    <c:v>Arrival month</c:v>
                  </c:pt>
                  <c:pt idx="5">
                    <c:v>Arrival day of month</c:v>
                  </c:pt>
                  <c:pt idx="6">
                    <c:v>Weekend nights</c:v>
                  </c:pt>
                  <c:pt idx="7">
                    <c:v>Week nights</c:v>
                  </c:pt>
                </c:lvl>
              </c:multiLvlStrCache>
            </c:multiLvlStrRef>
          </c:cat>
          <c:val>
            <c:numRef>
              <c:f>Sheet1!$B$2:$B$9</c:f>
              <c:numCache>
                <c:formatCode>General</c:formatCode>
                <c:ptCount val="8"/>
                <c:pt idx="0">
                  <c:v>248</c:v>
                </c:pt>
                <c:pt idx="1">
                  <c:v>218</c:v>
                </c:pt>
                <c:pt idx="2">
                  <c:v>131</c:v>
                </c:pt>
                <c:pt idx="3">
                  <c:v>128</c:v>
                </c:pt>
                <c:pt idx="4">
                  <c:v>116</c:v>
                </c:pt>
                <c:pt idx="5">
                  <c:v>102</c:v>
                </c:pt>
                <c:pt idx="6">
                  <c:v>81</c:v>
                </c:pt>
                <c:pt idx="7">
                  <c:v>68</c:v>
                </c:pt>
              </c:numCache>
            </c:numRef>
          </c:val>
        </c:ser>
        <c:dLbls>
          <c:numFmt formatCode="0" sourceLinked="0"/>
          <c:txPr>
            <a:bodyPr/>
            <a:lstStyle/>
            <a:p>
              <a:pPr>
                <a:defRPr b="1" i="0" strike="noStrike" sz="1400" u="none">
                  <a:solidFill>
                    <a:srgbClr val="1F3A5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28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Cancellation rate (%)</c:v>
                </c:pt>
              </c:strCache>
            </c:strRef>
          </c:tx>
          <c:spPr>
            <a:solidFill>
              <a:srgbClr val="E07B39"/>
            </a:solidFill>
            <a:effectLst/>
          </c:spPr>
          <c:invertIfNegative val="0"/>
          <c:dLbls>
            <c:numFmt formatCode="0&quot;%&quot;" sourceLinked="0"/>
            <c:txPr>
              <a:bodyPr/>
              <a:lstStyle/>
              <a:p>
                <a:pPr>
                  <a:defRPr b="1" i="0" strike="noStrike" sz="1400" u="none">
                    <a:solidFill>
                      <a:srgbClr val="1F3A5F"/>
                    </a:solidFill>
                    <a:latin typeface="+mn-lt"/>
                  </a:defRPr>
                </a:pPr>
              </a:p>
            </c:txPr>
            <c:showLegendKey val="0"/>
            <c:showVal val="1"/>
            <c:showCatName val="0"/>
            <c:showSerName val="0"/>
            <c:showPercent val="0"/>
            <c:showBubbleSize val="0"/>
            <c:showLeaderLines val="0"/>
          </c:dLbls>
          <c:dPt>
            <c:idx val="0"/>
            <c:invertIfNegative val="0"/>
            <c:bubble3D val="0"/>
            <c:spPr>
              <a:solidFill>
                <a:srgbClr val="E07B39"/>
              </a:solidFill>
              <a:effectLst/>
            </c:spPr>
          </c:dPt>
          <c:dPt>
            <c:idx val="1"/>
            <c:invertIfNegative val="0"/>
            <c:bubble3D val="0"/>
            <c:spPr>
              <a:solidFill>
                <a:srgbClr val="E07B39"/>
              </a:solidFill>
              <a:effectLst/>
            </c:spPr>
          </c:dPt>
          <c:dPt>
            <c:idx val="2"/>
            <c:invertIfNegative val="0"/>
            <c:bubble3D val="0"/>
            <c:spPr>
              <a:solidFill>
                <a:srgbClr val="2E75B6"/>
              </a:solidFill>
              <a:effectLst/>
            </c:spPr>
          </c:dPt>
          <c:dPt>
            <c:idx val="3"/>
            <c:invertIfNegative val="0"/>
            <c:bubble3D val="0"/>
            <c:spPr>
              <a:solidFill>
                <a:srgbClr val="2E75B6"/>
              </a:solidFill>
              <a:effectLst/>
            </c:spPr>
          </c:dPt>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68</c:v>
                </c:pt>
                <c:pt idx="1">
                  <c:v>39</c:v>
                </c:pt>
                <c:pt idx="2">
                  <c:v>25</c:v>
                </c:pt>
                <c:pt idx="3">
                  <c:v>16</c:v>
                </c:pt>
              </c:numCache>
            </c:numRef>
          </c:val>
        </c:ser>
        <c:dLbls>
          <c:numFmt formatCode="0&quot;%&quot;" sourceLinked="0"/>
          <c:txPr>
            <a:bodyPr/>
            <a:lstStyle/>
            <a:p>
              <a:pPr>
                <a:defRPr b="1" i="0" strike="noStrike" sz="1400" u="none">
                  <a:solidFill>
                    <a:srgbClr val="1F3A5F"/>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 splits the bookings with yes/no questions. The full pruned tree has 181 end groups, too large to show, so this is a simplified management tree with eight groups. Three groups are red flags: long lead time at 100 euros or more (96% cancel), long lead time at a lower price with no special request (64%), and online bookings made 10 to 151 days ahead with no special request outside December and January (63%). Together they are 31% of bookings and 69% of all cancellations. The safest group is bookings with at least one special request: only 12% cancel.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tree is easy to read but can change when the data changes. A random forest builds 500 trees on different random samples and lets them vote. On the 10,882 bookings the model never saw, it is right 90% of the time, against 67% if we simply assume nobody cancels. It catches 81% of cancellations, and 88% of the bookings it flags really are cancelled. More useful than a yes or no answer is the risk score: only 4% of low-risk bookings cancel, 96% of very-high-risk bookings do. That top band is one booking in five and contains 61% of all cancellations. The alert threshold is a business choice: lowering it from 50% to 30% catches 88% of cancellations, with more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factors matter most? The forest ranks them by how much its accuracy falls when each factor is scrambled. Lead time is clearly first, then special requests, room price, booking channel and arrival month. These are the same factors the decision tree chose for its splits, so two different methods agree. The further ahead a room is booked, the more likely it is cancelled: 72% beyond 151 days against 23% otherwise. A special request signals commitment. Online bookings without any request cancel far more often than offline or corporate ones. Guest history ranks last only because 97% of bookings are from first-time guests.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models predict. Clustering describes. K-means grouped the 36,275 bookings into four segments using lead time, price, special requests, length of stay and party size, without being told which were cancelled. Segment A, long-lead planners, is one booking in five but two in five cancellations: this is where deposits, non-refundable rates and reconfirmation matter most. Segment D, engaged guests with special requests, cancel only 16% of the time and should be protected with flexible terms. The segments overlap at the edges, so we use them to design policy for groups, and the random forest score to judge individual bookings.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9445752" y="256032"/>
            <a:ext cx="2194560" cy="274320"/>
          </a:xfrm>
          <a:prstGeom prst="rect">
            <a:avLst/>
          </a:prstGeom>
          <a:noFill/>
          <a:ln/>
        </p:spPr>
        <p:txBody>
          <a:bodyPr wrap="square" lIns="0" tIns="0" rIns="0" bIns="0" rtlCol="0" anchor="ctr"/>
          <a:lstStyle/>
          <a:p>
            <a:pPr algn="r" indent="0" marL="0">
              <a:buNone/>
            </a:pPr>
            <a:r>
              <a:rPr lang="en-US" sz="1100" b="1" dirty="0">
                <a:solidFill>
                  <a:schemeClr val="accent3"/>
                </a:solidFill>
              </a:rPr>
              <a:t>Speaker: Chen Chen</a:t>
            </a:r>
            <a:endParaRPr lang="en-US" sz="1100" dirty="0"/>
          </a:p>
        </p:txBody>
      </p:sp>
      <p:sp>
        <p:nvSpPr>
          <p:cNvPr id="3" name="Text 1"/>
          <p:cNvSpPr/>
          <p:nvPr>
            <p:ph idx="101" type="title" hasCustomPrompt="1"/>
          </p:nvPr>
        </p:nvSpPr>
        <p:spPr>
          <a:xfrm>
            <a:off x="548640" y="457200"/>
            <a:ext cx="11091672"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1"/>
          <p:cNvSpPr/>
          <p:nvPr>
            <p:ph idx="102" type="body" hasCustomPrompt="1"/>
          </p:nvPr>
        </p:nvSpPr>
        <p:spPr>
          <a:xfrm>
            <a:off x="548640" y="1161288"/>
            <a:ext cx="11091672" cy="411480"/>
          </a:xfrm>
          <a:prstGeom prst="rect">
            <a:avLst/>
          </a:prstGeom>
          <a:noFill/>
          <a:ln/>
        </p:spPr>
        <p:txBody>
          <a:bodyPr wrap="square" rtlCol="0"/>
          <a:lstStyle>
            <a:lvl1pPr algn="l" indent="0" marL="0">
              <a:buNone/>
              <a:defRPr lang="en-US" sz="1600" dirty="0">
                <a:solidFill>
                  <a:schemeClr val="accent3"/>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Three red-flag rules catch 69% of cancellations</a:t>
            </a:r>
            <a:endParaRPr lang="en-US" sz="3200" dirty="0"/>
          </a:p>
        </p:txBody>
      </p:sp>
      <p:sp>
        <p:nvSpPr>
          <p:cNvPr id="3" name="Text 1"/>
          <p:cNvSpPr/>
          <p:nvPr>
            <p:ph idx="102" type="body" hasCustomPrompt="1"/>
          </p:nvPr>
        </p:nvSpPr>
        <p:spPr>
          <a:xfrm>
            <a:off x="548640" y="1161288"/>
            <a:ext cx="11091672" cy="411480"/>
          </a:xfrm>
          <a:prstGeom prst="rect">
            <a:avLst/>
          </a:prstGeom>
          <a:noFill/>
          <a:ln/>
        </p:spPr>
        <p:txBody>
          <a:bodyPr wrap="square" lIns="0" tIns="0" rIns="0" bIns="0" rtlCol="0" anchor="t"/>
          <a:lstStyle/>
          <a:p>
            <a:pPr algn="l" indent="0" marL="0">
              <a:buNone/>
            </a:pPr>
            <a:r>
              <a:rPr lang="en-US" sz="1600" dirty="0">
                <a:solidFill>
                  <a:schemeClr val="accent3"/>
                </a:solidFill>
              </a:rPr>
              <a:t>A decision tree asks yes/no questions about each booking. Pruned to eight groups, it reads like a flowchart.</a:t>
            </a:r>
            <a:endParaRPr lang="en-US" sz="1600" dirty="0"/>
          </a:p>
        </p:txBody>
      </p:sp>
      <p:pic>
        <p:nvPicPr>
          <p:cNvPr id="4" name="CART tree" descr="Decision tree produced in R with eight end groups">    </p:cNvPr>
          <p:cNvPicPr>
            <a:picLocks noChangeAspect="1"/>
          </p:cNvPicPr>
          <p:nvPr/>
        </p:nvPicPr>
        <p:blipFill>
          <a:blip r:embed="rId1"/>
          <a:stretch>
            <a:fillRect/>
          </a:stretch>
        </p:blipFill>
        <p:spPr>
          <a:xfrm>
            <a:off x="548640" y="1783080"/>
            <a:ext cx="6858000" cy="3694176"/>
          </a:xfrm>
          <a:prstGeom prst="rect">
            <a:avLst/>
          </a:prstGeom>
        </p:spPr>
      </p:pic>
      <p:sp>
        <p:nvSpPr>
          <p:cNvPr id="5" name="Tree takeaway"/>
          <p:cNvSpPr txBox="1"/>
          <p:nvPr/>
        </p:nvSpPr>
        <p:spPr>
          <a:xfrm>
            <a:off x="548640" y="5577840"/>
            <a:ext cx="6858000" cy="640080"/>
          </a:xfrm>
          <a:prstGeom prst="rect">
            <a:avLst/>
          </a:prstGeom>
          <a:noFill/>
          <a:ln/>
        </p:spPr>
        <p:txBody>
          <a:bodyPr wrap="square" lIns="0" tIns="0" rIns="0" bIns="0" rtlCol="0" anchor="t"/>
          <a:lstStyle/>
          <a:p>
            <a:pPr indent="0" marL="0">
              <a:buNone/>
            </a:pPr>
            <a:r>
              <a:rPr lang="en-US" sz="1400" b="1" dirty="0">
                <a:solidFill>
                  <a:schemeClr val="tx2"/>
                </a:solidFill>
              </a:rPr>
              <a:t>The three red-flag rules cover 31% of bookings.</a:t>
            </a:r>
            <a:pPr indent="0" marL="0">
              <a:buNone/>
            </a:pPr>
            <a:r>
              <a:rPr lang="en-US" sz="1400" dirty="0">
                <a:solidFill>
                  <a:schemeClr val="tx1"/>
                </a:solidFill>
              </a:rPr>
              <a:t> The rules held on unseen bookings: every group was within 4 points of its training rate.</a:t>
            </a:r>
            <a:endParaRPr lang="en-US" sz="1400" dirty="0"/>
          </a:p>
        </p:txBody>
      </p:sp>
      <p:sp>
        <p:nvSpPr>
          <p:cNvPr id="6" name="Rules header"/>
          <p:cNvSpPr txBox="1"/>
          <p:nvPr/>
        </p:nvSpPr>
        <p:spPr>
          <a:xfrm>
            <a:off x="7818120" y="1737360"/>
            <a:ext cx="3822192" cy="320040"/>
          </a:xfrm>
          <a:prstGeom prst="rect">
            <a:avLst/>
          </a:prstGeom>
          <a:noFill/>
          <a:ln/>
        </p:spPr>
        <p:txBody>
          <a:bodyPr wrap="square" lIns="0" tIns="0" rIns="0" bIns="0" rtlCol="0" anchor="ctr"/>
          <a:lstStyle/>
          <a:p>
            <a:pPr indent="0" marL="0">
              <a:buNone/>
            </a:pPr>
            <a:r>
              <a:rPr lang="en-US" sz="1400" b="1" dirty="0">
                <a:solidFill>
                  <a:schemeClr val="tx2"/>
                </a:solidFill>
              </a:rPr>
              <a:t>Share of bookings cancelled in each group</a:t>
            </a:r>
            <a:endParaRPr lang="en-US" sz="1400" dirty="0"/>
          </a:p>
        </p:txBody>
      </p:sp>
      <p:sp>
        <p:nvSpPr>
          <p:cNvPr id="7" name="Rule card 1"/>
          <p:cNvSpPr/>
          <p:nvPr/>
        </p:nvSpPr>
        <p:spPr>
          <a:xfrm>
            <a:off x="7818120" y="2148840"/>
            <a:ext cx="3822192" cy="914400"/>
          </a:xfrm>
          <a:prstGeom prst="roundRect">
            <a:avLst>
              <a:gd name="adj" fmla="val 8000"/>
            </a:avLst>
          </a:prstGeom>
          <a:solidFill>
            <a:schemeClr val="bg2"/>
          </a:solidFill>
          <a:ln w="12700">
            <a:solidFill>
              <a:schemeClr val="bg2"/>
            </a:solidFill>
            <a:prstDash val="solid"/>
          </a:ln>
        </p:spPr>
      </p:sp>
      <p:sp>
        <p:nvSpPr>
          <p:cNvPr id="8" name="Rule rate 1"/>
          <p:cNvSpPr txBox="1"/>
          <p:nvPr/>
        </p:nvSpPr>
        <p:spPr>
          <a:xfrm>
            <a:off x="7909560" y="2148840"/>
            <a:ext cx="1143000" cy="914400"/>
          </a:xfrm>
          <a:prstGeom prst="rect">
            <a:avLst/>
          </a:prstGeom>
          <a:noFill/>
          <a:ln/>
        </p:spPr>
        <p:txBody>
          <a:bodyPr wrap="square" lIns="0" tIns="0" rIns="0" bIns="0" rtlCol="0" anchor="ctr"/>
          <a:lstStyle/>
          <a:p>
            <a:pPr algn="ctr" indent="0" marL="0">
              <a:buNone/>
            </a:pPr>
            <a:r>
              <a:rPr lang="en-US" sz="3200" b="1" dirty="0">
                <a:solidFill>
                  <a:schemeClr val="accent2"/>
                </a:solidFill>
              </a:rPr>
              <a:t>96%</a:t>
            </a:r>
            <a:endParaRPr lang="en-US" sz="3200" dirty="0"/>
          </a:p>
        </p:txBody>
      </p:sp>
      <p:sp>
        <p:nvSpPr>
          <p:cNvPr id="9" name="Rule text 1"/>
          <p:cNvSpPr txBox="1"/>
          <p:nvPr/>
        </p:nvSpPr>
        <p:spPr>
          <a:xfrm>
            <a:off x="9098280" y="2148840"/>
            <a:ext cx="2468880" cy="914400"/>
          </a:xfrm>
          <a:prstGeom prst="rect">
            <a:avLst/>
          </a:prstGeom>
          <a:noFill/>
          <a:ln/>
        </p:spPr>
        <p:txBody>
          <a:bodyPr wrap="square" lIns="0" tIns="0" rIns="0" bIns="0" rtlCol="0" anchor="ctr"/>
          <a:lstStyle/>
          <a:p>
            <a:pPr indent="0" marL="0">
              <a:buNone/>
            </a:pPr>
            <a:r>
              <a:rPr lang="en-US" sz="1400" b="1" dirty="0">
                <a:solidFill>
                  <a:schemeClr val="tx1"/>
                </a:solidFill>
              </a:rPr>
              <a:t>Booked 152+ days ahead at €100 or more</a:t>
            </a:r>
            <a:endParaRPr lang="en-US" sz="1400" dirty="0"/>
          </a:p>
          <a:p>
            <a:pPr indent="0" marL="0">
              <a:buNone/>
            </a:pPr>
            <a:r>
              <a:rPr lang="en-US" sz="1200" dirty="0">
                <a:solidFill>
                  <a:schemeClr val="accent3"/>
                </a:solidFill>
              </a:rPr>
              <a:t>8.5% of bookings</a:t>
            </a:r>
            <a:endParaRPr lang="en-US" sz="1400" dirty="0"/>
          </a:p>
        </p:txBody>
      </p:sp>
      <p:sp>
        <p:nvSpPr>
          <p:cNvPr id="10" name="Rule card 2"/>
          <p:cNvSpPr/>
          <p:nvPr/>
        </p:nvSpPr>
        <p:spPr>
          <a:xfrm>
            <a:off x="7818120" y="3172968"/>
            <a:ext cx="3822192" cy="914400"/>
          </a:xfrm>
          <a:prstGeom prst="roundRect">
            <a:avLst>
              <a:gd name="adj" fmla="val 8000"/>
            </a:avLst>
          </a:prstGeom>
          <a:solidFill>
            <a:schemeClr val="bg2"/>
          </a:solidFill>
          <a:ln w="12700">
            <a:solidFill>
              <a:schemeClr val="bg2"/>
            </a:solidFill>
            <a:prstDash val="solid"/>
          </a:ln>
        </p:spPr>
      </p:sp>
      <p:sp>
        <p:nvSpPr>
          <p:cNvPr id="11" name="Rule rate 2"/>
          <p:cNvSpPr txBox="1"/>
          <p:nvPr/>
        </p:nvSpPr>
        <p:spPr>
          <a:xfrm>
            <a:off x="7909560" y="3172968"/>
            <a:ext cx="1143000" cy="914400"/>
          </a:xfrm>
          <a:prstGeom prst="rect">
            <a:avLst/>
          </a:prstGeom>
          <a:noFill/>
          <a:ln/>
        </p:spPr>
        <p:txBody>
          <a:bodyPr wrap="square" lIns="0" tIns="0" rIns="0" bIns="0" rtlCol="0" anchor="ctr"/>
          <a:lstStyle/>
          <a:p>
            <a:pPr algn="ctr" indent="0" marL="0">
              <a:buNone/>
            </a:pPr>
            <a:r>
              <a:rPr lang="en-US" sz="3200" b="1" dirty="0">
                <a:solidFill>
                  <a:schemeClr val="accent2"/>
                </a:solidFill>
              </a:rPr>
              <a:t>64%</a:t>
            </a:r>
            <a:endParaRPr lang="en-US" sz="3200" dirty="0"/>
          </a:p>
        </p:txBody>
      </p:sp>
      <p:sp>
        <p:nvSpPr>
          <p:cNvPr id="12" name="Rule text 2"/>
          <p:cNvSpPr txBox="1"/>
          <p:nvPr/>
        </p:nvSpPr>
        <p:spPr>
          <a:xfrm>
            <a:off x="9098280" y="3172968"/>
            <a:ext cx="2468880" cy="914400"/>
          </a:xfrm>
          <a:prstGeom prst="rect">
            <a:avLst/>
          </a:prstGeom>
          <a:noFill/>
          <a:ln/>
        </p:spPr>
        <p:txBody>
          <a:bodyPr wrap="square" lIns="0" tIns="0" rIns="0" bIns="0" rtlCol="0" anchor="ctr"/>
          <a:lstStyle/>
          <a:p>
            <a:pPr indent="0" marL="0">
              <a:buNone/>
            </a:pPr>
            <a:r>
              <a:rPr lang="en-US" sz="1400" b="1" dirty="0">
                <a:solidFill>
                  <a:schemeClr val="tx1"/>
                </a:solidFill>
              </a:rPr>
              <a:t>Booked 152+ days ahead under €100, no special request</a:t>
            </a:r>
            <a:endParaRPr lang="en-US" sz="1400" dirty="0"/>
          </a:p>
          <a:p>
            <a:pPr indent="0" marL="0">
              <a:buNone/>
            </a:pPr>
            <a:r>
              <a:rPr lang="en-US" sz="1200" dirty="0">
                <a:solidFill>
                  <a:schemeClr val="accent3"/>
                </a:solidFill>
              </a:rPr>
              <a:t>7.6% of bookings</a:t>
            </a:r>
            <a:endParaRPr lang="en-US" sz="1400" dirty="0"/>
          </a:p>
        </p:txBody>
      </p:sp>
      <p:sp>
        <p:nvSpPr>
          <p:cNvPr id="13" name="Rule card 3"/>
          <p:cNvSpPr/>
          <p:nvPr/>
        </p:nvSpPr>
        <p:spPr>
          <a:xfrm>
            <a:off x="7818120" y="4197096"/>
            <a:ext cx="3822192" cy="914400"/>
          </a:xfrm>
          <a:prstGeom prst="roundRect">
            <a:avLst>
              <a:gd name="adj" fmla="val 8000"/>
            </a:avLst>
          </a:prstGeom>
          <a:solidFill>
            <a:schemeClr val="bg2"/>
          </a:solidFill>
          <a:ln w="12700">
            <a:solidFill>
              <a:schemeClr val="bg2"/>
            </a:solidFill>
            <a:prstDash val="solid"/>
          </a:ln>
        </p:spPr>
      </p:sp>
      <p:sp>
        <p:nvSpPr>
          <p:cNvPr id="14" name="Rule rate 3"/>
          <p:cNvSpPr txBox="1"/>
          <p:nvPr/>
        </p:nvSpPr>
        <p:spPr>
          <a:xfrm>
            <a:off x="7909560" y="4197096"/>
            <a:ext cx="1143000" cy="914400"/>
          </a:xfrm>
          <a:prstGeom prst="rect">
            <a:avLst/>
          </a:prstGeom>
          <a:noFill/>
          <a:ln/>
        </p:spPr>
        <p:txBody>
          <a:bodyPr wrap="square" lIns="0" tIns="0" rIns="0" bIns="0" rtlCol="0" anchor="ctr"/>
          <a:lstStyle/>
          <a:p>
            <a:pPr algn="ctr" indent="0" marL="0">
              <a:buNone/>
            </a:pPr>
            <a:r>
              <a:rPr lang="en-US" sz="3200" b="1" dirty="0">
                <a:solidFill>
                  <a:schemeClr val="accent2"/>
                </a:solidFill>
              </a:rPr>
              <a:t>63%</a:t>
            </a:r>
            <a:endParaRPr lang="en-US" sz="3200" dirty="0"/>
          </a:p>
        </p:txBody>
      </p:sp>
      <p:sp>
        <p:nvSpPr>
          <p:cNvPr id="15" name="Rule text 3"/>
          <p:cNvSpPr txBox="1"/>
          <p:nvPr/>
        </p:nvSpPr>
        <p:spPr>
          <a:xfrm>
            <a:off x="9098280" y="4197096"/>
            <a:ext cx="2468880" cy="914400"/>
          </a:xfrm>
          <a:prstGeom prst="rect">
            <a:avLst/>
          </a:prstGeom>
          <a:noFill/>
          <a:ln/>
        </p:spPr>
        <p:txBody>
          <a:bodyPr wrap="square" lIns="0" tIns="0" rIns="0" bIns="0" rtlCol="0" anchor="ctr"/>
          <a:lstStyle/>
          <a:p>
            <a:pPr indent="0" marL="0">
              <a:buNone/>
            </a:pPr>
            <a:r>
              <a:rPr lang="en-US" sz="1400" b="1" dirty="0">
                <a:solidFill>
                  <a:schemeClr val="tx1"/>
                </a:solidFill>
              </a:rPr>
              <a:t>Booked online 10 to 151 days ahead, no special request, February to November stay</a:t>
            </a:r>
            <a:endParaRPr lang="en-US" sz="1400" dirty="0"/>
          </a:p>
          <a:p>
            <a:pPr indent="0" marL="0">
              <a:buNone/>
            </a:pPr>
            <a:r>
              <a:rPr lang="en-US" sz="1200" dirty="0">
                <a:solidFill>
                  <a:schemeClr val="accent3"/>
                </a:solidFill>
              </a:rPr>
              <a:t>15.0% of bookings</a:t>
            </a:r>
            <a:endParaRPr lang="en-US" sz="1400" dirty="0"/>
          </a:p>
        </p:txBody>
      </p:sp>
      <p:sp>
        <p:nvSpPr>
          <p:cNvPr id="16" name="Rule card 4"/>
          <p:cNvSpPr/>
          <p:nvPr/>
        </p:nvSpPr>
        <p:spPr>
          <a:xfrm>
            <a:off x="7818120" y="5221224"/>
            <a:ext cx="3822192" cy="914400"/>
          </a:xfrm>
          <a:prstGeom prst="roundRect">
            <a:avLst>
              <a:gd name="adj" fmla="val 8000"/>
            </a:avLst>
          </a:prstGeom>
          <a:solidFill>
            <a:schemeClr val="bg2"/>
          </a:solidFill>
          <a:ln w="12700">
            <a:solidFill>
              <a:schemeClr val="bg2"/>
            </a:solidFill>
            <a:prstDash val="solid"/>
          </a:ln>
        </p:spPr>
      </p:sp>
      <p:sp>
        <p:nvSpPr>
          <p:cNvPr id="17" name="Rule rate 4"/>
          <p:cNvSpPr txBox="1"/>
          <p:nvPr/>
        </p:nvSpPr>
        <p:spPr>
          <a:xfrm>
            <a:off x="7909560" y="5221224"/>
            <a:ext cx="1143000" cy="914400"/>
          </a:xfrm>
          <a:prstGeom prst="rect">
            <a:avLst/>
          </a:prstGeom>
          <a:noFill/>
          <a:ln/>
        </p:spPr>
        <p:txBody>
          <a:bodyPr wrap="square" lIns="0" tIns="0" rIns="0" bIns="0" rtlCol="0" anchor="ctr"/>
          <a:lstStyle/>
          <a:p>
            <a:pPr algn="ctr" indent="0" marL="0">
              <a:buNone/>
            </a:pPr>
            <a:r>
              <a:rPr lang="en-US" sz="3200" b="1" dirty="0">
                <a:solidFill>
                  <a:schemeClr val="accent1"/>
                </a:solidFill>
              </a:rPr>
              <a:t>12%</a:t>
            </a:r>
            <a:endParaRPr lang="en-US" sz="3200" dirty="0"/>
          </a:p>
        </p:txBody>
      </p:sp>
      <p:sp>
        <p:nvSpPr>
          <p:cNvPr id="18" name="Rule text 4"/>
          <p:cNvSpPr txBox="1"/>
          <p:nvPr/>
        </p:nvSpPr>
        <p:spPr>
          <a:xfrm>
            <a:off x="9098280" y="5221224"/>
            <a:ext cx="2468880" cy="914400"/>
          </a:xfrm>
          <a:prstGeom prst="rect">
            <a:avLst/>
          </a:prstGeom>
          <a:noFill/>
          <a:ln/>
        </p:spPr>
        <p:txBody>
          <a:bodyPr wrap="square" lIns="0" tIns="0" rIns="0" bIns="0" rtlCol="0" anchor="ctr"/>
          <a:lstStyle/>
          <a:p>
            <a:pPr indent="0" marL="0">
              <a:buNone/>
            </a:pPr>
            <a:r>
              <a:rPr lang="en-US" sz="1400" b="1" dirty="0">
                <a:solidFill>
                  <a:schemeClr val="tx1"/>
                </a:solidFill>
              </a:rPr>
              <a:t>Booked under 152 days ahead with a special request</a:t>
            </a:r>
            <a:endParaRPr lang="en-US" sz="1400" dirty="0"/>
          </a:p>
          <a:p>
            <a:pPr indent="0" marL="0">
              <a:buNone/>
            </a:pPr>
            <a:r>
              <a:rPr lang="en-US" sz="1200" dirty="0">
                <a:solidFill>
                  <a:schemeClr val="accent3"/>
                </a:solidFill>
              </a:rPr>
              <a:t>38.2% of bookings (safest group)</a:t>
            </a:r>
            <a:endParaRPr lang="en-US" sz="1400" dirty="0"/>
          </a:p>
        </p:txBody>
      </p:sp>
      <p:sp>
        <p:nvSpPr>
          <p:cNvPr id="19" name="Source note"/>
          <p:cNvSpPr txBox="1"/>
          <p:nvPr/>
        </p:nvSpPr>
        <p:spPr>
          <a:xfrm>
            <a:off x="548640" y="6382512"/>
            <a:ext cx="10332720" cy="274320"/>
          </a:xfrm>
          <a:prstGeom prst="rect">
            <a:avLst/>
          </a:prstGeom>
          <a:noFill/>
          <a:ln/>
        </p:spPr>
        <p:txBody>
          <a:bodyPr wrap="square" lIns="0" tIns="0" rIns="0" bIns="0" rtlCol="0" anchor="ctr"/>
          <a:lstStyle/>
          <a:p>
            <a:pPr indent="0" marL="0">
              <a:buNone/>
            </a:pPr>
            <a:r>
              <a:rPr lang="en-US" sz="1000" dirty="0">
                <a:solidFill>
                  <a:schemeClr val="accent3"/>
                </a:solidFill>
              </a:rPr>
              <a:t>CART in R (rpart), pruned with 10-fold cross-validation. Rates measured on 10,882 test bookings that were not used to build the tree.</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Random forest gets 9 in 10 bookings right</a:t>
            </a:r>
            <a:endParaRPr lang="en-US" sz="3200" dirty="0"/>
          </a:p>
        </p:txBody>
      </p:sp>
      <p:sp>
        <p:nvSpPr>
          <p:cNvPr id="3" name="Text 1"/>
          <p:cNvSpPr/>
          <p:nvPr>
            <p:ph idx="102" type="body" hasCustomPrompt="1"/>
          </p:nvPr>
        </p:nvSpPr>
        <p:spPr>
          <a:xfrm>
            <a:off x="548640" y="1161288"/>
            <a:ext cx="11091672" cy="411480"/>
          </a:xfrm>
          <a:prstGeom prst="rect">
            <a:avLst/>
          </a:prstGeom>
          <a:noFill/>
          <a:ln/>
        </p:spPr>
        <p:txBody>
          <a:bodyPr wrap="square" lIns="0" tIns="0" rIns="0" bIns="0" rtlCol="0" anchor="t"/>
          <a:lstStyle/>
          <a:p>
            <a:pPr algn="l" indent="0" marL="0">
              <a:buNone/>
            </a:pPr>
            <a:r>
              <a:rPr lang="en-US" sz="1600" dirty="0">
                <a:solidFill>
                  <a:schemeClr val="accent3"/>
                </a:solidFill>
              </a:rPr>
              <a:t>500 decision trees vote on each booking. Less readable than a single tree, but more accurate and more stable.</a:t>
            </a:r>
            <a:endParaRPr lang="en-US" sz="1600" dirty="0"/>
          </a:p>
        </p:txBody>
      </p:sp>
      <p:sp>
        <p:nvSpPr>
          <p:cNvPr id="4" name="Stat card 1"/>
          <p:cNvSpPr/>
          <p:nvPr/>
        </p:nvSpPr>
        <p:spPr>
          <a:xfrm>
            <a:off x="548640" y="1783080"/>
            <a:ext cx="1664208" cy="1463040"/>
          </a:xfrm>
          <a:prstGeom prst="roundRect">
            <a:avLst>
              <a:gd name="adj" fmla="val 5000"/>
            </a:avLst>
          </a:prstGeom>
          <a:solidFill>
            <a:schemeClr val="bg2"/>
          </a:solidFill>
          <a:ln w="12700">
            <a:solidFill>
              <a:schemeClr val="bg2"/>
            </a:solidFill>
            <a:prstDash val="solid"/>
          </a:ln>
        </p:spPr>
      </p:sp>
      <p:sp>
        <p:nvSpPr>
          <p:cNvPr id="5" name="Stat value 1"/>
          <p:cNvSpPr txBox="1"/>
          <p:nvPr/>
        </p:nvSpPr>
        <p:spPr>
          <a:xfrm>
            <a:off x="548640" y="1847088"/>
            <a:ext cx="1664208" cy="731520"/>
          </a:xfrm>
          <a:prstGeom prst="rect">
            <a:avLst/>
          </a:prstGeom>
          <a:noFill/>
          <a:ln/>
        </p:spPr>
        <p:txBody>
          <a:bodyPr wrap="square" lIns="0" tIns="0" rIns="0" bIns="0" rtlCol="0" anchor="ctr"/>
          <a:lstStyle/>
          <a:p>
            <a:pPr algn="ctr" indent="0" marL="0">
              <a:buNone/>
            </a:pPr>
            <a:r>
              <a:rPr lang="en-US" sz="4000" b="1" dirty="0">
                <a:solidFill>
                  <a:schemeClr val="accent2"/>
                </a:solidFill>
              </a:rPr>
              <a:t>90%</a:t>
            </a:r>
            <a:endParaRPr lang="en-US" sz="4000" dirty="0"/>
          </a:p>
        </p:txBody>
      </p:sp>
      <p:sp>
        <p:nvSpPr>
          <p:cNvPr id="6" name="Stat label 1"/>
          <p:cNvSpPr txBox="1"/>
          <p:nvPr/>
        </p:nvSpPr>
        <p:spPr>
          <a:xfrm>
            <a:off x="658368" y="2578608"/>
            <a:ext cx="1444752" cy="731520"/>
          </a:xfrm>
          <a:prstGeom prst="rect">
            <a:avLst/>
          </a:prstGeom>
          <a:noFill/>
          <a:ln/>
        </p:spPr>
        <p:txBody>
          <a:bodyPr wrap="square" lIns="0" tIns="0" rIns="0" bIns="0" rtlCol="0" anchor="t"/>
          <a:lstStyle/>
          <a:p>
            <a:pPr algn="ctr" indent="0" marL="0">
              <a:buNone/>
            </a:pPr>
            <a:r>
              <a:rPr lang="en-US" sz="1200" dirty="0">
                <a:solidFill>
                  <a:schemeClr val="tx1"/>
                </a:solidFill>
              </a:rPr>
              <a:t>of unseen bookings classified correctly</a:t>
            </a:r>
            <a:endParaRPr lang="en-US" sz="1200" dirty="0"/>
          </a:p>
        </p:txBody>
      </p:sp>
      <p:sp>
        <p:nvSpPr>
          <p:cNvPr id="7" name="Stat card 2"/>
          <p:cNvSpPr/>
          <p:nvPr/>
        </p:nvSpPr>
        <p:spPr>
          <a:xfrm>
            <a:off x="2350008" y="1783080"/>
            <a:ext cx="1664208" cy="1463040"/>
          </a:xfrm>
          <a:prstGeom prst="roundRect">
            <a:avLst>
              <a:gd name="adj" fmla="val 5000"/>
            </a:avLst>
          </a:prstGeom>
          <a:solidFill>
            <a:schemeClr val="bg2"/>
          </a:solidFill>
          <a:ln w="12700">
            <a:solidFill>
              <a:schemeClr val="bg2"/>
            </a:solidFill>
            <a:prstDash val="solid"/>
          </a:ln>
        </p:spPr>
      </p:sp>
      <p:sp>
        <p:nvSpPr>
          <p:cNvPr id="8" name="Stat value 2"/>
          <p:cNvSpPr txBox="1"/>
          <p:nvPr/>
        </p:nvSpPr>
        <p:spPr>
          <a:xfrm>
            <a:off x="2350008" y="1847088"/>
            <a:ext cx="1664208" cy="731520"/>
          </a:xfrm>
          <a:prstGeom prst="rect">
            <a:avLst/>
          </a:prstGeom>
          <a:noFill/>
          <a:ln/>
        </p:spPr>
        <p:txBody>
          <a:bodyPr wrap="square" lIns="0" tIns="0" rIns="0" bIns="0" rtlCol="0" anchor="ctr"/>
          <a:lstStyle/>
          <a:p>
            <a:pPr algn="ctr" indent="0" marL="0">
              <a:buNone/>
            </a:pPr>
            <a:r>
              <a:rPr lang="en-US" sz="4000" b="1" dirty="0">
                <a:solidFill>
                  <a:schemeClr val="accent2"/>
                </a:solidFill>
              </a:rPr>
              <a:t>81%</a:t>
            </a:r>
            <a:endParaRPr lang="en-US" sz="4000" dirty="0"/>
          </a:p>
        </p:txBody>
      </p:sp>
      <p:sp>
        <p:nvSpPr>
          <p:cNvPr id="9" name="Stat label 2"/>
          <p:cNvSpPr txBox="1"/>
          <p:nvPr/>
        </p:nvSpPr>
        <p:spPr>
          <a:xfrm>
            <a:off x="2459736" y="2578608"/>
            <a:ext cx="1444752" cy="731520"/>
          </a:xfrm>
          <a:prstGeom prst="rect">
            <a:avLst/>
          </a:prstGeom>
          <a:noFill/>
          <a:ln/>
        </p:spPr>
        <p:txBody>
          <a:bodyPr wrap="square" lIns="0" tIns="0" rIns="0" bIns="0" rtlCol="0" anchor="t"/>
          <a:lstStyle/>
          <a:p>
            <a:pPr algn="ctr" indent="0" marL="0">
              <a:buNone/>
            </a:pPr>
            <a:r>
              <a:rPr lang="en-US" sz="1200" dirty="0">
                <a:solidFill>
                  <a:schemeClr val="tx1"/>
                </a:solidFill>
              </a:rPr>
              <a:t>of all cancellations caught</a:t>
            </a:r>
            <a:endParaRPr lang="en-US" sz="1200" dirty="0"/>
          </a:p>
        </p:txBody>
      </p:sp>
      <p:sp>
        <p:nvSpPr>
          <p:cNvPr id="10" name="Stat card 3"/>
          <p:cNvSpPr/>
          <p:nvPr/>
        </p:nvSpPr>
        <p:spPr>
          <a:xfrm>
            <a:off x="4151376" y="1783080"/>
            <a:ext cx="1664208" cy="1463040"/>
          </a:xfrm>
          <a:prstGeom prst="roundRect">
            <a:avLst>
              <a:gd name="adj" fmla="val 5000"/>
            </a:avLst>
          </a:prstGeom>
          <a:solidFill>
            <a:schemeClr val="bg2"/>
          </a:solidFill>
          <a:ln w="12700">
            <a:solidFill>
              <a:schemeClr val="bg2"/>
            </a:solidFill>
            <a:prstDash val="solid"/>
          </a:ln>
        </p:spPr>
      </p:sp>
      <p:sp>
        <p:nvSpPr>
          <p:cNvPr id="11" name="Stat value 3"/>
          <p:cNvSpPr txBox="1"/>
          <p:nvPr/>
        </p:nvSpPr>
        <p:spPr>
          <a:xfrm>
            <a:off x="4151376" y="1847088"/>
            <a:ext cx="1664208" cy="731520"/>
          </a:xfrm>
          <a:prstGeom prst="rect">
            <a:avLst/>
          </a:prstGeom>
          <a:noFill/>
          <a:ln/>
        </p:spPr>
        <p:txBody>
          <a:bodyPr wrap="square" lIns="0" tIns="0" rIns="0" bIns="0" rtlCol="0" anchor="ctr"/>
          <a:lstStyle/>
          <a:p>
            <a:pPr algn="ctr" indent="0" marL="0">
              <a:buNone/>
            </a:pPr>
            <a:r>
              <a:rPr lang="en-US" sz="4000" b="1" dirty="0">
                <a:solidFill>
                  <a:schemeClr val="accent2"/>
                </a:solidFill>
              </a:rPr>
              <a:t>88%</a:t>
            </a:r>
            <a:endParaRPr lang="en-US" sz="4000" dirty="0"/>
          </a:p>
        </p:txBody>
      </p:sp>
      <p:sp>
        <p:nvSpPr>
          <p:cNvPr id="12" name="Stat label 3"/>
          <p:cNvSpPr txBox="1"/>
          <p:nvPr/>
        </p:nvSpPr>
        <p:spPr>
          <a:xfrm>
            <a:off x="4261104" y="2578608"/>
            <a:ext cx="1444752" cy="731520"/>
          </a:xfrm>
          <a:prstGeom prst="rect">
            <a:avLst/>
          </a:prstGeom>
          <a:noFill/>
          <a:ln/>
        </p:spPr>
        <p:txBody>
          <a:bodyPr wrap="square" lIns="0" tIns="0" rIns="0" bIns="0" rtlCol="0" anchor="t"/>
          <a:lstStyle/>
          <a:p>
            <a:pPr algn="ctr" indent="0" marL="0">
              <a:buNone/>
            </a:pPr>
            <a:r>
              <a:rPr lang="en-US" sz="1200" dirty="0">
                <a:solidFill>
                  <a:schemeClr val="tx1"/>
                </a:solidFill>
              </a:rPr>
              <a:t>of alerts are real cancellations</a:t>
            </a:r>
            <a:endParaRPr lang="en-US" sz="1200" dirty="0"/>
          </a:p>
        </p:txBody>
      </p:sp>
      <p:graphicFrame>
        <p:nvGraphicFramePr>
          <p:cNvPr id="3" name="Model comparison"/>
          <p:cNvGraphicFramePr>
            <a:graphicFrameLocks noGrp="1"/>
          </p:cNvGraphicFramePr>
          <p:nvPr>
            <p:extLst>
              <p:ext uri="{D42A27DB-BD31-4B8C-83A1-F6EECF244321}">
                <p14:modId xmlns:p14="http://schemas.microsoft.com/office/powerpoint/2010/main" val="1579011935"/>
              </p:ext>
            </p:extLst>
          </p:nvPr>
        </p:nvGraphicFramePr>
        <p:xfrm>
          <a:off x="548640" y="3520440"/>
          <a:ext cx="5266944" cy="914400"/>
        </p:xfrm>
        <a:graphic>
          <a:graphicData uri="http://schemas.openxmlformats.org/drawingml/2006/table">
            <a:tbl>
              <a:tblPr/>
              <a:tblGrid>
                <a:gridCol w="1920240"/>
                <a:gridCol w="1005840"/>
                <a:gridCol w="1426464"/>
                <a:gridCol w="914400"/>
              </a:tblGrid>
              <a:tr h="457200">
                <a:tc>
                  <a:txBody>
                    <a:bodyPr/>
                    <a:lstStyle/>
                    <a:p>
                      <a:pPr algn="l" indent="0" marL="0">
                        <a:buNone/>
                      </a:pPr>
                      <a:r>
                        <a:rPr lang="en-US" sz="1200" b="1" dirty="0">
                          <a:solidFill>
                            <a:schemeClr val="bg1"/>
                          </a:solidFill>
                        </a:rPr>
                        <a:t>Model</a:t>
                      </a:r>
                      <a:endParaRPr lang="en-US" sz="12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Accuracy</a:t>
                      </a:r>
                      <a:endParaRPr lang="en-US" sz="12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Cancellations caught</a:t>
                      </a:r>
                      <a:endParaRPr lang="en-US" sz="12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AUC</a:t>
                      </a:r>
                      <a:endParaRPr lang="en-US" sz="12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r>
              <a:tr h="384048">
                <a:tc>
                  <a:txBody>
                    <a:bodyPr/>
                    <a:lstStyle/>
                    <a:p>
                      <a:pPr algn="l" indent="0" marL="0">
                        <a:buNone/>
                      </a:pPr>
                      <a:r>
                        <a:rPr lang="en-US" sz="1400" dirty="0">
                          <a:solidFill>
                            <a:schemeClr val="tx1"/>
                          </a:solidFill>
                        </a:rPr>
                        <a:t>No model</a:t>
                      </a:r>
                      <a:endParaRPr lang="en-US" sz="14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67%</a:t>
                      </a:r>
                      <a:endParaRPr lang="en-US" sz="14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0.50</a:t>
                      </a:r>
                      <a:endParaRPr lang="en-US" sz="14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r>
              <a:tr h="384048">
                <a:tc>
                  <a:txBody>
                    <a:bodyPr/>
                    <a:lstStyle/>
                    <a:p>
                      <a:pPr algn="l" indent="0" marL="0">
                        <a:buNone/>
                      </a:pPr>
                      <a:r>
                        <a:rPr lang="en-US" sz="1400" dirty="0">
                          <a:solidFill>
                            <a:schemeClr val="tx1"/>
                          </a:solidFill>
                        </a:rPr>
                        <a:t>Management tree</a:t>
                      </a:r>
                      <a:endParaRPr lang="en-US" sz="14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81%</a:t>
                      </a:r>
                      <a:endParaRPr lang="en-US" sz="14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69%</a:t>
                      </a:r>
                      <a:endParaRPr lang="en-US" sz="14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0.82</a:t>
                      </a:r>
                      <a:endParaRPr lang="en-US" sz="14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r>
              <a:tr h="384048">
                <a:tc>
                  <a:txBody>
                    <a:bodyPr/>
                    <a:lstStyle/>
                    <a:p>
                      <a:pPr algn="l" indent="0" marL="0">
                        <a:buNone/>
                      </a:pPr>
                      <a:r>
                        <a:rPr lang="en-US" sz="1400" dirty="0">
                          <a:solidFill>
                            <a:schemeClr val="tx1"/>
                          </a:solidFill>
                        </a:rPr>
                        <a:t>Optimal CART</a:t>
                      </a:r>
                      <a:endParaRPr lang="en-US" sz="14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87%</a:t>
                      </a:r>
                      <a:endParaRPr lang="en-US" sz="14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77%</a:t>
                      </a:r>
                      <a:endParaRPr lang="en-US" sz="14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0.92</a:t>
                      </a:r>
                      <a:endParaRPr lang="en-US" sz="14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r>
              <a:tr h="384048">
                <a:tc>
                  <a:txBody>
                    <a:bodyPr/>
                    <a:lstStyle/>
                    <a:p>
                      <a:pPr algn="l" indent="0" marL="0">
                        <a:buNone/>
                      </a:pPr>
                      <a:r>
                        <a:rPr lang="en-US" sz="1400" b="1" dirty="0">
                          <a:solidFill>
                            <a:schemeClr val="tx1"/>
                          </a:solidFill>
                        </a:rPr>
                        <a:t>Random forest</a:t>
                      </a:r>
                      <a:endParaRPr lang="en-US" sz="14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rPr>
                        <a:t>90%</a:t>
                      </a:r>
                      <a:endParaRPr lang="en-US" sz="14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rPr>
                        <a:t>81%</a:t>
                      </a:r>
                      <a:endParaRPr lang="en-US" sz="14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rPr>
                        <a:t>0.95</a:t>
                      </a:r>
                      <a:endParaRPr lang="en-US" sz="1400" dirty="0"/>
                    </a:p>
                  </a:txBody>
                  <a:tcPr marL="91440"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bl>
          </a:graphicData>
        </a:graphic>
      </p:graphicFrame>
      <p:sp>
        <p:nvSpPr>
          <p:cNvPr id="14" name="AUC note"/>
          <p:cNvSpPr txBox="1"/>
          <p:nvPr/>
        </p:nvSpPr>
        <p:spPr>
          <a:xfrm>
            <a:off x="548640" y="5623560"/>
            <a:ext cx="5266944" cy="457200"/>
          </a:xfrm>
          <a:prstGeom prst="rect">
            <a:avLst/>
          </a:prstGeom>
          <a:noFill/>
          <a:ln/>
        </p:spPr>
        <p:txBody>
          <a:bodyPr wrap="square" lIns="0" tIns="0" rIns="0" bIns="0" rtlCol="0" anchor="t"/>
          <a:lstStyle/>
          <a:p>
            <a:pPr indent="0" marL="0">
              <a:buNone/>
            </a:pPr>
            <a:r>
              <a:rPr lang="en-US" sz="1200" dirty="0">
                <a:solidFill>
                  <a:schemeClr val="accent3"/>
                </a:solidFill>
              </a:rPr>
              <a:t>AUC measures how well the model ranks risky bookings: 0.5 is chance, 1 is perfect.</a:t>
            </a:r>
            <a:endParaRPr lang="en-US" sz="1200" dirty="0"/>
          </a:p>
        </p:txBody>
      </p:sp>
      <p:sp>
        <p:nvSpPr>
          <p:cNvPr id="15" name="Chart header"/>
          <p:cNvSpPr txBox="1"/>
          <p:nvPr/>
        </p:nvSpPr>
        <p:spPr>
          <a:xfrm>
            <a:off x="6309360" y="1737360"/>
            <a:ext cx="5330952" cy="320040"/>
          </a:xfrm>
          <a:prstGeom prst="rect">
            <a:avLst/>
          </a:prstGeom>
          <a:noFill/>
          <a:ln/>
        </p:spPr>
        <p:txBody>
          <a:bodyPr wrap="square" lIns="0" tIns="0" rIns="0" bIns="0" rtlCol="0" anchor="ctr"/>
          <a:lstStyle/>
          <a:p>
            <a:pPr indent="0" marL="0">
              <a:buNone/>
            </a:pPr>
            <a:r>
              <a:rPr lang="en-US" sz="1400" b="1" dirty="0">
                <a:solidFill>
                  <a:schemeClr val="tx2"/>
                </a:solidFill>
              </a:rPr>
              <a:t>Actual cancellation rate by risk band</a:t>
            </a:r>
            <a:endParaRPr lang="en-US" sz="1400" dirty="0"/>
          </a:p>
        </p:txBody>
      </p:sp>
      <p:graphicFrame>
        <p:nvGraphicFramePr>
          <p:cNvPr id="16" name="Risk band chart" descr="Bar chart: cancellation rate rises from 4% in the low risk band to 96% in the very high band"/>
          <p:cNvGraphicFramePr/>
          <p:nvPr/>
        </p:nvGraphicFramePr>
        <p:xfrm>
          <a:off x="6309360" y="2103120"/>
          <a:ext cx="5330952" cy="3246120"/>
        </p:xfrm>
        <a:graphic xmlns:a="http://schemas.openxmlformats.org/drawingml/2006/main">
          <a:graphicData uri="http://schemas.openxmlformats.org/drawingml/2006/chart">
            <c:chart xmlns:c="http://schemas.openxmlformats.org/drawingml/2006/chart" r:id="rId1"/>
          </a:graphicData>
        </a:graphic>
      </p:graphicFrame>
      <p:sp>
        <p:nvSpPr>
          <p:cNvPr id="17" name="Chart takeaway"/>
          <p:cNvSpPr txBox="1"/>
          <p:nvPr/>
        </p:nvSpPr>
        <p:spPr>
          <a:xfrm>
            <a:off x="6309360" y="5486400"/>
            <a:ext cx="5330952" cy="640080"/>
          </a:xfrm>
          <a:prstGeom prst="rect">
            <a:avLst/>
          </a:prstGeom>
          <a:noFill/>
          <a:ln/>
        </p:spPr>
        <p:txBody>
          <a:bodyPr wrap="square" lIns="0" tIns="0" rIns="0" bIns="0" rtlCol="0" anchor="t"/>
          <a:lstStyle/>
          <a:p>
            <a:pPr indent="0" marL="0">
              <a:buNone/>
            </a:pPr>
            <a:r>
              <a:rPr lang="en-US" sz="1400" b="1" dirty="0">
                <a:solidFill>
                  <a:schemeClr val="tx2"/>
                </a:solidFill>
              </a:rPr>
              <a:t>The very-high band is 1 booking in 5 and holds 61% of all cancellations.</a:t>
            </a:r>
            <a:endParaRPr lang="en-US" sz="1400" dirty="0"/>
          </a:p>
        </p:txBody>
      </p:sp>
      <p:sp>
        <p:nvSpPr>
          <p:cNvPr id="18" name="Source note"/>
          <p:cNvSpPr txBox="1"/>
          <p:nvPr/>
        </p:nvSpPr>
        <p:spPr>
          <a:xfrm>
            <a:off x="548640" y="6382512"/>
            <a:ext cx="10332720" cy="274320"/>
          </a:xfrm>
          <a:prstGeom prst="rect">
            <a:avLst/>
          </a:prstGeom>
          <a:noFill/>
          <a:ln/>
        </p:spPr>
        <p:txBody>
          <a:bodyPr wrap="square" lIns="0" tIns="0" rIns="0" bIns="0" rtlCol="0" anchor="ctr"/>
          <a:lstStyle/>
          <a:p>
            <a:pPr indent="0" marL="0">
              <a:buNone/>
            </a:pPr>
            <a:r>
              <a:rPr lang="en-US" sz="1000" dirty="0">
                <a:solidFill>
                  <a:schemeClr val="accent3"/>
                </a:solidFill>
              </a:rPr>
              <a:t>Random forest in R (randomForest), 500 trees. All figures measured on 10,882 test bookings. No model = assume no booking cancels.</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Lead time and special requests drive cancellation</a:t>
            </a:r>
            <a:endParaRPr lang="en-US" sz="3200" dirty="0"/>
          </a:p>
        </p:txBody>
      </p:sp>
      <p:sp>
        <p:nvSpPr>
          <p:cNvPr id="3" name="Text 1"/>
          <p:cNvSpPr/>
          <p:nvPr>
            <p:ph idx="102" type="body" hasCustomPrompt="1"/>
          </p:nvPr>
        </p:nvSpPr>
        <p:spPr>
          <a:xfrm>
            <a:off x="548640" y="1161288"/>
            <a:ext cx="11091672" cy="411480"/>
          </a:xfrm>
          <a:prstGeom prst="rect">
            <a:avLst/>
          </a:prstGeom>
          <a:noFill/>
          <a:ln/>
        </p:spPr>
        <p:txBody>
          <a:bodyPr wrap="square" lIns="0" tIns="0" rIns="0" bIns="0" rtlCol="0" anchor="t"/>
          <a:lstStyle/>
          <a:p>
            <a:pPr algn="l" indent="0" marL="0">
              <a:buNone/>
            </a:pPr>
            <a:r>
              <a:rPr lang="en-US" sz="1600" dirty="0">
                <a:solidFill>
                  <a:schemeClr val="accent3"/>
                </a:solidFill>
              </a:rPr>
              <a:t>The forest ranks each factor by how much accuracy is lost when that factor is scrambled.</a:t>
            </a:r>
            <a:endParaRPr lang="en-US" sz="1600" dirty="0"/>
          </a:p>
        </p:txBody>
      </p:sp>
      <p:sp>
        <p:nvSpPr>
          <p:cNvPr id="4" name="Chart header"/>
          <p:cNvSpPr txBox="1"/>
          <p:nvPr/>
        </p:nvSpPr>
        <p:spPr>
          <a:xfrm>
            <a:off x="548640" y="1737360"/>
            <a:ext cx="5669280" cy="320040"/>
          </a:xfrm>
          <a:prstGeom prst="rect">
            <a:avLst/>
          </a:prstGeom>
          <a:noFill/>
          <a:ln/>
        </p:spPr>
        <p:txBody>
          <a:bodyPr wrap="square" lIns="0" tIns="0" rIns="0" bIns="0" rtlCol="0" anchor="ctr"/>
          <a:lstStyle/>
          <a:p>
            <a:pPr indent="0" marL="0">
              <a:buNone/>
            </a:pPr>
            <a:r>
              <a:rPr lang="en-US" sz="1400" b="1" dirty="0">
                <a:solidFill>
                  <a:schemeClr val="tx2"/>
                </a:solidFill>
              </a:rPr>
              <a:t>Importance of each factor (top 8 of 17)</a:t>
            </a:r>
            <a:endParaRPr lang="en-US" sz="1400" dirty="0"/>
          </a:p>
        </p:txBody>
      </p:sp>
      <p:graphicFrame>
        <p:nvGraphicFramePr>
          <p:cNvPr id="5" name="Importance chart" descr="Horizontal bar chart of random forest variable importance; lead time 248 and special requests 218 lead"/>
          <p:cNvGraphicFramePr/>
          <p:nvPr/>
        </p:nvGraphicFramePr>
        <p:xfrm>
          <a:off x="548640" y="2103120"/>
          <a:ext cx="5669280" cy="4023360"/>
        </p:xfrm>
        <a:graphic xmlns:a="http://schemas.openxmlformats.org/drawingml/2006/main">
          <a:graphicData uri="http://schemas.openxmlformats.org/drawingml/2006/chart">
            <c:chart xmlns:c="http://schemas.openxmlformats.org/drawingml/2006/chart" r:id="rId1"/>
          </a:graphicData>
        </a:graphic>
      </p:graphicFrame>
      <p:sp>
        <p:nvSpPr>
          <p:cNvPr id="6" name="Drivers header"/>
          <p:cNvSpPr txBox="1"/>
          <p:nvPr/>
        </p:nvSpPr>
        <p:spPr>
          <a:xfrm>
            <a:off x="6720840" y="1737360"/>
            <a:ext cx="4919472" cy="320040"/>
          </a:xfrm>
          <a:prstGeom prst="rect">
            <a:avLst/>
          </a:prstGeom>
          <a:noFill/>
          <a:ln/>
        </p:spPr>
        <p:txBody>
          <a:bodyPr wrap="square" lIns="0" tIns="0" rIns="0" bIns="0" rtlCol="0" anchor="ctr"/>
          <a:lstStyle/>
          <a:p>
            <a:pPr indent="0" marL="0">
              <a:buNone/>
            </a:pPr>
            <a:r>
              <a:rPr lang="en-US" sz="1400" b="1" dirty="0">
                <a:solidFill>
                  <a:schemeClr val="tx2"/>
                </a:solidFill>
              </a:rPr>
              <a:t>How the top four work</a:t>
            </a:r>
            <a:endParaRPr lang="en-US" sz="1400" dirty="0"/>
          </a:p>
        </p:txBody>
      </p:sp>
      <p:sp>
        <p:nvSpPr>
          <p:cNvPr id="7" name="Icon circle 1"/>
          <p:cNvSpPr/>
          <p:nvPr/>
        </p:nvSpPr>
        <p:spPr>
          <a:xfrm>
            <a:off x="6720840" y="2267712"/>
            <a:ext cx="640080" cy="640080"/>
          </a:xfrm>
          <a:prstGeom prst="ellipse">
            <a:avLst/>
          </a:prstGeom>
          <a:solidFill>
            <a:schemeClr val="tx2"/>
          </a:solidFill>
          <a:ln w="12700">
            <a:solidFill>
              <a:schemeClr val="tx2"/>
            </a:solidFill>
            <a:prstDash val="solid"/>
          </a:ln>
        </p:spPr>
      </p:sp>
      <p:pic>
        <p:nvPicPr>
          <p:cNvPr id="8" name="Icon 1" descr="Lead time icon">    </p:cNvPr>
          <p:cNvPicPr>
            <a:picLocks noChangeAspect="1"/>
          </p:cNvPicPr>
          <p:nvPr/>
        </p:nvPicPr>
        <p:blipFill>
          <a:blip r:embed="rId2"/>
          <a:stretch>
            <a:fillRect/>
          </a:stretch>
        </p:blipFill>
        <p:spPr>
          <a:xfrm>
            <a:off x="6885432" y="2432304"/>
            <a:ext cx="310896" cy="310896"/>
          </a:xfrm>
          <a:prstGeom prst="rect">
            <a:avLst/>
          </a:prstGeom>
        </p:spPr>
      </p:pic>
      <p:sp>
        <p:nvSpPr>
          <p:cNvPr id="9" name="Driver 1"/>
          <p:cNvSpPr txBox="1"/>
          <p:nvPr/>
        </p:nvSpPr>
        <p:spPr>
          <a:xfrm>
            <a:off x="7589520" y="2194560"/>
            <a:ext cx="4050792" cy="868680"/>
          </a:xfrm>
          <a:prstGeom prst="rect">
            <a:avLst/>
          </a:prstGeom>
          <a:noFill/>
          <a:ln/>
        </p:spPr>
        <p:txBody>
          <a:bodyPr wrap="square" lIns="0" tIns="0" rIns="0" bIns="0" rtlCol="0" anchor="ctr"/>
          <a:lstStyle/>
          <a:p>
            <a:pPr indent="0" marL="0">
              <a:buNone/>
            </a:pPr>
            <a:r>
              <a:rPr lang="en-US" sz="1600" b="1" dirty="0">
                <a:solidFill>
                  <a:schemeClr val="tx2"/>
                </a:solidFill>
              </a:rPr>
              <a:t>Lead time</a:t>
            </a:r>
            <a:endParaRPr lang="en-US" sz="1600" dirty="0"/>
          </a:p>
          <a:p>
            <a:pPr indent="0" marL="0">
              <a:buNone/>
            </a:pPr>
            <a:r>
              <a:rPr lang="en-US" sz="1400" dirty="0">
                <a:solidFill>
                  <a:schemeClr val="tx1"/>
                </a:solidFill>
              </a:rPr>
              <a:t>Booked 152+ days ahead: 72% cancel, against 23% for shorter lead times.</a:t>
            </a:r>
            <a:endParaRPr lang="en-US" sz="1600" dirty="0"/>
          </a:p>
        </p:txBody>
      </p:sp>
      <p:sp>
        <p:nvSpPr>
          <p:cNvPr id="10" name="Icon circle 2"/>
          <p:cNvSpPr/>
          <p:nvPr/>
        </p:nvSpPr>
        <p:spPr>
          <a:xfrm>
            <a:off x="6720840" y="3255264"/>
            <a:ext cx="640080" cy="640080"/>
          </a:xfrm>
          <a:prstGeom prst="ellipse">
            <a:avLst/>
          </a:prstGeom>
          <a:solidFill>
            <a:schemeClr val="tx2"/>
          </a:solidFill>
          <a:ln w="12700">
            <a:solidFill>
              <a:schemeClr val="tx2"/>
            </a:solidFill>
            <a:prstDash val="solid"/>
          </a:ln>
        </p:spPr>
      </p:sp>
      <p:pic>
        <p:nvPicPr>
          <p:cNvPr id="11" name="Icon 2" descr="Special requests icon">    </p:cNvPr>
          <p:cNvPicPr>
            <a:picLocks noChangeAspect="1"/>
          </p:cNvPicPr>
          <p:nvPr/>
        </p:nvPicPr>
        <p:blipFill>
          <a:blip r:embed="rId3"/>
          <a:stretch>
            <a:fillRect/>
          </a:stretch>
        </p:blipFill>
        <p:spPr>
          <a:xfrm>
            <a:off x="6885432" y="3419856"/>
            <a:ext cx="310896" cy="310896"/>
          </a:xfrm>
          <a:prstGeom prst="rect">
            <a:avLst/>
          </a:prstGeom>
        </p:spPr>
      </p:pic>
      <p:sp>
        <p:nvSpPr>
          <p:cNvPr id="12" name="Driver 2"/>
          <p:cNvSpPr txBox="1"/>
          <p:nvPr/>
        </p:nvSpPr>
        <p:spPr>
          <a:xfrm>
            <a:off x="7589520" y="3182112"/>
            <a:ext cx="4050792" cy="868680"/>
          </a:xfrm>
          <a:prstGeom prst="rect">
            <a:avLst/>
          </a:prstGeom>
          <a:noFill/>
          <a:ln/>
        </p:spPr>
        <p:txBody>
          <a:bodyPr wrap="square" lIns="0" tIns="0" rIns="0" bIns="0" rtlCol="0" anchor="ctr"/>
          <a:lstStyle/>
          <a:p>
            <a:pPr indent="0" marL="0">
              <a:buNone/>
            </a:pPr>
            <a:r>
              <a:rPr lang="en-US" sz="1600" b="1" dirty="0">
                <a:solidFill>
                  <a:schemeClr val="tx2"/>
                </a:solidFill>
              </a:rPr>
              <a:t>Special requests</a:t>
            </a:r>
            <a:endParaRPr lang="en-US" sz="1600" dirty="0"/>
          </a:p>
          <a:p>
            <a:pPr indent="0" marL="0">
              <a:buNone/>
            </a:pPr>
            <a:r>
              <a:rPr lang="en-US" sz="1400" dirty="0">
                <a:solidFill>
                  <a:schemeClr val="tx1"/>
                </a:solidFill>
              </a:rPr>
              <a:t>With a request (under 152 days ahead), only 12% cancel.</a:t>
            </a:r>
            <a:endParaRPr lang="en-US" sz="1600" dirty="0"/>
          </a:p>
        </p:txBody>
      </p:sp>
      <p:sp>
        <p:nvSpPr>
          <p:cNvPr id="13" name="Icon circle 3"/>
          <p:cNvSpPr/>
          <p:nvPr/>
        </p:nvSpPr>
        <p:spPr>
          <a:xfrm>
            <a:off x="6720840" y="4242816"/>
            <a:ext cx="640080" cy="640080"/>
          </a:xfrm>
          <a:prstGeom prst="ellipse">
            <a:avLst/>
          </a:prstGeom>
          <a:solidFill>
            <a:schemeClr val="tx2"/>
          </a:solidFill>
          <a:ln w="12700">
            <a:solidFill>
              <a:schemeClr val="tx2"/>
            </a:solidFill>
            <a:prstDash val="solid"/>
          </a:ln>
        </p:spPr>
      </p:sp>
      <p:pic>
        <p:nvPicPr>
          <p:cNvPr id="14" name="Icon 3" descr="Room price icon">    </p:cNvPr>
          <p:cNvPicPr>
            <a:picLocks noChangeAspect="1"/>
          </p:cNvPicPr>
          <p:nvPr/>
        </p:nvPicPr>
        <p:blipFill>
          <a:blip r:embed="rId4"/>
          <a:stretch>
            <a:fillRect/>
          </a:stretch>
        </p:blipFill>
        <p:spPr>
          <a:xfrm>
            <a:off x="6885432" y="4407408"/>
            <a:ext cx="310896" cy="310896"/>
          </a:xfrm>
          <a:prstGeom prst="rect">
            <a:avLst/>
          </a:prstGeom>
        </p:spPr>
      </p:pic>
      <p:sp>
        <p:nvSpPr>
          <p:cNvPr id="15" name="Driver 3"/>
          <p:cNvSpPr txBox="1"/>
          <p:nvPr/>
        </p:nvSpPr>
        <p:spPr>
          <a:xfrm>
            <a:off x="7589520" y="4169664"/>
            <a:ext cx="4050792" cy="868680"/>
          </a:xfrm>
          <a:prstGeom prst="rect">
            <a:avLst/>
          </a:prstGeom>
          <a:noFill/>
          <a:ln/>
        </p:spPr>
        <p:txBody>
          <a:bodyPr wrap="square" lIns="0" tIns="0" rIns="0" bIns="0" rtlCol="0" anchor="ctr"/>
          <a:lstStyle/>
          <a:p>
            <a:pPr indent="0" marL="0">
              <a:buNone/>
            </a:pPr>
            <a:r>
              <a:rPr lang="en-US" sz="1600" b="1" dirty="0">
                <a:solidFill>
                  <a:schemeClr val="tx2"/>
                </a:solidFill>
              </a:rPr>
              <a:t>Room price</a:t>
            </a:r>
            <a:endParaRPr lang="en-US" sz="1600" dirty="0"/>
          </a:p>
          <a:p>
            <a:pPr indent="0" marL="0">
              <a:buNone/>
            </a:pPr>
            <a:r>
              <a:rPr lang="en-US" sz="1400" dirty="0">
                <a:solidFill>
                  <a:schemeClr val="tx1"/>
                </a:solidFill>
              </a:rPr>
              <a:t>Long-lead bookings at €100 or more: 96% cancel.</a:t>
            </a:r>
            <a:endParaRPr lang="en-US" sz="1600" dirty="0"/>
          </a:p>
        </p:txBody>
      </p:sp>
      <p:sp>
        <p:nvSpPr>
          <p:cNvPr id="16" name="Icon circle 4"/>
          <p:cNvSpPr/>
          <p:nvPr/>
        </p:nvSpPr>
        <p:spPr>
          <a:xfrm>
            <a:off x="6720840" y="5230368"/>
            <a:ext cx="640080" cy="640080"/>
          </a:xfrm>
          <a:prstGeom prst="ellipse">
            <a:avLst/>
          </a:prstGeom>
          <a:solidFill>
            <a:schemeClr val="tx2"/>
          </a:solidFill>
          <a:ln w="12700">
            <a:solidFill>
              <a:schemeClr val="tx2"/>
            </a:solidFill>
            <a:prstDash val="solid"/>
          </a:ln>
        </p:spPr>
      </p:sp>
      <p:pic>
        <p:nvPicPr>
          <p:cNvPr id="17" name="Icon 4" descr="Booking channel icon">    </p:cNvPr>
          <p:cNvPicPr>
            <a:picLocks noChangeAspect="1"/>
          </p:cNvPicPr>
          <p:nvPr/>
        </p:nvPicPr>
        <p:blipFill>
          <a:blip r:embed="rId5"/>
          <a:stretch>
            <a:fillRect/>
          </a:stretch>
        </p:blipFill>
        <p:spPr>
          <a:xfrm>
            <a:off x="6885432" y="5394960"/>
            <a:ext cx="310896" cy="310896"/>
          </a:xfrm>
          <a:prstGeom prst="rect">
            <a:avLst/>
          </a:prstGeom>
        </p:spPr>
      </p:pic>
      <p:sp>
        <p:nvSpPr>
          <p:cNvPr id="18" name="Driver 4"/>
          <p:cNvSpPr txBox="1"/>
          <p:nvPr/>
        </p:nvSpPr>
        <p:spPr>
          <a:xfrm>
            <a:off x="7589520" y="5157216"/>
            <a:ext cx="4050792" cy="868680"/>
          </a:xfrm>
          <a:prstGeom prst="rect">
            <a:avLst/>
          </a:prstGeom>
          <a:noFill/>
          <a:ln/>
        </p:spPr>
        <p:txBody>
          <a:bodyPr wrap="square" lIns="0" tIns="0" rIns="0" bIns="0" rtlCol="0" anchor="ctr"/>
          <a:lstStyle/>
          <a:p>
            <a:pPr indent="0" marL="0">
              <a:buNone/>
            </a:pPr>
            <a:r>
              <a:rPr lang="en-US" sz="1600" b="1" dirty="0">
                <a:solidFill>
                  <a:schemeClr val="tx2"/>
                </a:solidFill>
              </a:rPr>
              <a:t>Booking channel</a:t>
            </a:r>
            <a:endParaRPr lang="en-US" sz="1600" dirty="0"/>
          </a:p>
          <a:p>
            <a:pPr indent="0" marL="0">
              <a:buNone/>
            </a:pPr>
            <a:r>
              <a:rPr lang="en-US" sz="1400" dirty="0">
                <a:solidFill>
                  <a:schemeClr val="tx1"/>
                </a:solidFill>
              </a:rPr>
              <a:t>With no request, online bookings cancel 52% of the time; other channels 15%.</a:t>
            </a:r>
            <a:endParaRPr lang="en-US" sz="1600" dirty="0"/>
          </a:p>
        </p:txBody>
      </p:sp>
      <p:sp>
        <p:nvSpPr>
          <p:cNvPr id="19" name="Source note"/>
          <p:cNvSpPr txBox="1"/>
          <p:nvPr/>
        </p:nvSpPr>
        <p:spPr>
          <a:xfrm>
            <a:off x="548640" y="6382512"/>
            <a:ext cx="10332720" cy="274320"/>
          </a:xfrm>
          <a:prstGeom prst="rect">
            <a:avLst/>
          </a:prstGeom>
          <a:noFill/>
          <a:ln/>
        </p:spPr>
        <p:txBody>
          <a:bodyPr wrap="square" lIns="0" tIns="0" rIns="0" bIns="0" rtlCol="0" anchor="ctr"/>
          <a:lstStyle/>
          <a:p>
            <a:pPr indent="0" marL="0">
              <a:buNone/>
            </a:pPr>
            <a:r>
              <a:rPr lang="en-US" sz="1000" dirty="0">
                <a:solidFill>
                  <a:schemeClr val="accent3"/>
                </a:solidFill>
              </a:rPr>
              <a:t>Importance = mean decrease in accuracy (randomForest, R). Cancellation rates are for decision-tree groups on the 10,882 test bookings.</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Four booking segments call for different handling</a:t>
            </a:r>
            <a:endParaRPr lang="en-US" sz="3200" dirty="0"/>
          </a:p>
        </p:txBody>
      </p:sp>
      <p:sp>
        <p:nvSpPr>
          <p:cNvPr id="3" name="Text 1"/>
          <p:cNvSpPr/>
          <p:nvPr>
            <p:ph idx="102" type="body" hasCustomPrompt="1"/>
          </p:nvPr>
        </p:nvSpPr>
        <p:spPr>
          <a:xfrm>
            <a:off x="548640" y="1161288"/>
            <a:ext cx="11091672" cy="411480"/>
          </a:xfrm>
          <a:prstGeom prst="rect">
            <a:avLst/>
          </a:prstGeom>
          <a:noFill/>
          <a:ln/>
        </p:spPr>
        <p:txBody>
          <a:bodyPr wrap="square" lIns="0" tIns="0" rIns="0" bIns="0" rtlCol="0" anchor="t"/>
          <a:lstStyle/>
          <a:p>
            <a:pPr algn="l" indent="0" marL="0">
              <a:buNone/>
            </a:pPr>
            <a:r>
              <a:rPr lang="en-US" sz="1600" dirty="0">
                <a:solidFill>
                  <a:schemeClr val="accent3"/>
                </a:solidFill>
              </a:rPr>
              <a:t>Clustering groups similar bookings without knowing which were cancelled. One segment produces 41% of all cancellations.</a:t>
            </a:r>
            <a:endParaRPr lang="en-US" sz="1600" dirty="0"/>
          </a:p>
        </p:txBody>
      </p:sp>
      <p:sp>
        <p:nvSpPr>
          <p:cNvPr id="4" name="Chart header"/>
          <p:cNvSpPr txBox="1"/>
          <p:nvPr/>
        </p:nvSpPr>
        <p:spPr>
          <a:xfrm>
            <a:off x="548640" y="1737360"/>
            <a:ext cx="4480560" cy="320040"/>
          </a:xfrm>
          <a:prstGeom prst="rect">
            <a:avLst/>
          </a:prstGeom>
          <a:noFill/>
          <a:ln/>
        </p:spPr>
        <p:txBody>
          <a:bodyPr wrap="square" lIns="0" tIns="0" rIns="0" bIns="0" rtlCol="0" anchor="ctr"/>
          <a:lstStyle/>
          <a:p>
            <a:pPr indent="0" marL="0">
              <a:buNone/>
            </a:pPr>
            <a:r>
              <a:rPr lang="en-US" sz="1400" b="1" dirty="0">
                <a:solidFill>
                  <a:schemeClr val="tx2"/>
                </a:solidFill>
              </a:rPr>
              <a:t>Cancellation rate by segment (hotel average 33%)</a:t>
            </a:r>
            <a:endParaRPr lang="en-US" sz="1400" dirty="0"/>
          </a:p>
        </p:txBody>
      </p:sp>
      <p:graphicFrame>
        <p:nvGraphicFramePr>
          <p:cNvPr id="5" name="Segment chart" descr="Bar chart of cancellation rate by segment: A 68%, B 39%, C 25%, D 16%"/>
          <p:cNvGraphicFramePr/>
          <p:nvPr/>
        </p:nvGraphicFramePr>
        <p:xfrm>
          <a:off x="548640" y="2103120"/>
          <a:ext cx="4480560" cy="3520440"/>
        </p:xfrm>
        <a:graphic xmlns:a="http://schemas.openxmlformats.org/drawingml/2006/main">
          <a:graphicData uri="http://schemas.openxmlformats.org/drawingml/2006/chart">
            <c:chart xmlns:c="http://schemas.openxmlformats.org/drawingml/2006/chart" r:id="rId1"/>
          </a:graphicData>
        </a:graphic>
      </p:graphicFrame>
      <p:sp>
        <p:nvSpPr>
          <p:cNvPr id="6" name="Segment card A"/>
          <p:cNvSpPr/>
          <p:nvPr/>
        </p:nvSpPr>
        <p:spPr>
          <a:xfrm>
            <a:off x="5440680" y="1783080"/>
            <a:ext cx="3026664" cy="1828800"/>
          </a:xfrm>
          <a:prstGeom prst="roundRect">
            <a:avLst>
              <a:gd name="adj" fmla="val 4000"/>
            </a:avLst>
          </a:prstGeom>
          <a:solidFill>
            <a:schemeClr val="bg2"/>
          </a:solidFill>
          <a:ln w="12700">
            <a:solidFill>
              <a:schemeClr val="bg2"/>
            </a:solidFill>
            <a:prstDash val="solid"/>
          </a:ln>
        </p:spPr>
      </p:sp>
      <p:sp>
        <p:nvSpPr>
          <p:cNvPr id="7" name="Segment text A"/>
          <p:cNvSpPr txBox="1"/>
          <p:nvPr/>
        </p:nvSpPr>
        <p:spPr>
          <a:xfrm>
            <a:off x="5605272" y="1892808"/>
            <a:ext cx="2697480" cy="1609344"/>
          </a:xfrm>
          <a:prstGeom prst="rect">
            <a:avLst/>
          </a:prstGeom>
          <a:noFill/>
          <a:ln/>
        </p:spPr>
        <p:txBody>
          <a:bodyPr wrap="square" lIns="0" tIns="0" rIns="0" bIns="0" rtlCol="0" anchor="t"/>
          <a:lstStyle/>
          <a:p>
            <a:pPr indent="0" marL="0">
              <a:spcAft>
                <a:spcPts val="500"/>
              </a:spcAft>
              <a:buNone/>
            </a:pPr>
            <a:r>
              <a:rPr lang="en-US" sz="1600" b="1" dirty="0">
                <a:solidFill>
                  <a:schemeClr val="accent2"/>
                </a:solidFill>
              </a:rPr>
              <a:t>A  Long-lead planners</a:t>
            </a:r>
            <a:endParaRPr lang="en-US" sz="1600" dirty="0"/>
          </a:p>
          <a:p>
            <a:pPr indent="0" marL="0">
              <a:spcAft>
                <a:spcPts val="500"/>
              </a:spcAft>
              <a:buNone/>
            </a:pPr>
            <a:r>
              <a:rPr lang="en-US" sz="1200" dirty="0">
                <a:solidFill>
                  <a:schemeClr val="accent3"/>
                </a:solidFill>
              </a:rPr>
              <a:t>20% of bookings, 41% of cancellations</a:t>
            </a:r>
            <a:endParaRPr lang="en-US" sz="1600" dirty="0"/>
          </a:p>
          <a:p>
            <a:pPr indent="0" marL="0">
              <a:spcAft>
                <a:spcPts val="500"/>
              </a:spcAft>
              <a:buNone/>
            </a:pPr>
            <a:r>
              <a:rPr lang="en-US" sz="1400" dirty="0">
                <a:solidFill>
                  <a:schemeClr val="tx1"/>
                </a:solidFill>
              </a:rPr>
              <a:t>Booked about 7 months ahead, few special requests.</a:t>
            </a:r>
            <a:endParaRPr lang="en-US" sz="1600" dirty="0"/>
          </a:p>
          <a:p>
            <a:pPr indent="0" marL="0">
              <a:spcAft>
                <a:spcPts val="500"/>
              </a:spcAft>
              <a:buNone/>
            </a:pPr>
            <a:r>
              <a:rPr lang="en-US" sz="1400" b="1" dirty="0">
                <a:solidFill>
                  <a:schemeClr val="tx2"/>
                </a:solidFill>
              </a:rPr>
              <a:t>Deposit or non-refundable rate; reconfirm before arrival.</a:t>
            </a:r>
            <a:endParaRPr lang="en-US" sz="1600" dirty="0"/>
          </a:p>
        </p:txBody>
      </p:sp>
      <p:sp>
        <p:nvSpPr>
          <p:cNvPr id="8" name="Segment card B"/>
          <p:cNvSpPr/>
          <p:nvPr/>
        </p:nvSpPr>
        <p:spPr>
          <a:xfrm>
            <a:off x="8613648" y="1783080"/>
            <a:ext cx="3026664" cy="1828800"/>
          </a:xfrm>
          <a:prstGeom prst="roundRect">
            <a:avLst>
              <a:gd name="adj" fmla="val 4000"/>
            </a:avLst>
          </a:prstGeom>
          <a:solidFill>
            <a:schemeClr val="bg2"/>
          </a:solidFill>
          <a:ln w="12700">
            <a:solidFill>
              <a:schemeClr val="bg2"/>
            </a:solidFill>
            <a:prstDash val="solid"/>
          </a:ln>
        </p:spPr>
      </p:sp>
      <p:sp>
        <p:nvSpPr>
          <p:cNvPr id="9" name="Segment text B"/>
          <p:cNvSpPr txBox="1"/>
          <p:nvPr/>
        </p:nvSpPr>
        <p:spPr>
          <a:xfrm>
            <a:off x="8778240" y="1892808"/>
            <a:ext cx="2697480" cy="1609344"/>
          </a:xfrm>
          <a:prstGeom prst="rect">
            <a:avLst/>
          </a:prstGeom>
          <a:noFill/>
          <a:ln/>
        </p:spPr>
        <p:txBody>
          <a:bodyPr wrap="square" lIns="0" tIns="0" rIns="0" bIns="0" rtlCol="0" anchor="t"/>
          <a:lstStyle/>
          <a:p>
            <a:pPr indent="0" marL="0">
              <a:spcAft>
                <a:spcPts val="500"/>
              </a:spcAft>
              <a:buNone/>
            </a:pPr>
            <a:r>
              <a:rPr lang="en-US" sz="1600" b="1" dirty="0">
                <a:solidFill>
                  <a:schemeClr val="accent2"/>
                </a:solidFill>
              </a:rPr>
              <a:t>B  Premium groups and families</a:t>
            </a:r>
            <a:endParaRPr lang="en-US" sz="1600" dirty="0"/>
          </a:p>
          <a:p>
            <a:pPr indent="0" marL="0">
              <a:spcAft>
                <a:spcPts val="500"/>
              </a:spcAft>
              <a:buNone/>
            </a:pPr>
            <a:r>
              <a:rPr lang="en-US" sz="1200" dirty="0">
                <a:solidFill>
                  <a:schemeClr val="accent3"/>
                </a:solidFill>
              </a:rPr>
              <a:t>12% of bookings, 14% of cancellations</a:t>
            </a:r>
            <a:endParaRPr lang="en-US" sz="1600" dirty="0"/>
          </a:p>
          <a:p>
            <a:pPr indent="0" marL="0">
              <a:spcAft>
                <a:spcPts val="500"/>
              </a:spcAft>
              <a:buNone/>
            </a:pPr>
            <a:r>
              <a:rPr lang="en-US" sz="1400" dirty="0">
                <a:solidFill>
                  <a:schemeClr val="tx1"/>
                </a:solidFill>
              </a:rPr>
              <a:t>Highest price (€158), 3 guests, booked online.</a:t>
            </a:r>
            <a:endParaRPr lang="en-US" sz="1600" dirty="0"/>
          </a:p>
          <a:p>
            <a:pPr indent="0" marL="0">
              <a:spcAft>
                <a:spcPts val="500"/>
              </a:spcAft>
              <a:buNone/>
            </a:pPr>
            <a:r>
              <a:rPr lang="en-US" sz="1400" b="1" dirty="0">
                <a:solidFill>
                  <a:schemeClr val="tx2"/>
                </a:solidFill>
              </a:rPr>
              <a:t>Pre-arrival contact; review free-cancellation terms.</a:t>
            </a:r>
            <a:endParaRPr lang="en-US" sz="1600" dirty="0"/>
          </a:p>
        </p:txBody>
      </p:sp>
      <p:sp>
        <p:nvSpPr>
          <p:cNvPr id="10" name="Segment card C"/>
          <p:cNvSpPr/>
          <p:nvPr/>
        </p:nvSpPr>
        <p:spPr>
          <a:xfrm>
            <a:off x="5440680" y="3749040"/>
            <a:ext cx="3026664" cy="1828800"/>
          </a:xfrm>
          <a:prstGeom prst="roundRect">
            <a:avLst>
              <a:gd name="adj" fmla="val 4000"/>
            </a:avLst>
          </a:prstGeom>
          <a:solidFill>
            <a:schemeClr val="bg2"/>
          </a:solidFill>
          <a:ln w="12700">
            <a:solidFill>
              <a:schemeClr val="bg2"/>
            </a:solidFill>
            <a:prstDash val="solid"/>
          </a:ln>
        </p:spPr>
      </p:sp>
      <p:sp>
        <p:nvSpPr>
          <p:cNvPr id="11" name="Segment text C"/>
          <p:cNvSpPr txBox="1"/>
          <p:nvPr/>
        </p:nvSpPr>
        <p:spPr>
          <a:xfrm>
            <a:off x="5605272" y="3858768"/>
            <a:ext cx="2697480" cy="1609344"/>
          </a:xfrm>
          <a:prstGeom prst="rect">
            <a:avLst/>
          </a:prstGeom>
          <a:noFill/>
          <a:ln/>
        </p:spPr>
        <p:txBody>
          <a:bodyPr wrap="square" lIns="0" tIns="0" rIns="0" bIns="0" rtlCol="0" anchor="t"/>
          <a:lstStyle/>
          <a:p>
            <a:pPr indent="0" marL="0">
              <a:spcAft>
                <a:spcPts val="500"/>
              </a:spcAft>
              <a:buNone/>
            </a:pPr>
            <a:r>
              <a:rPr lang="en-US" sz="1600" b="1" dirty="0">
                <a:solidFill>
                  <a:schemeClr val="accent1"/>
                </a:solidFill>
              </a:rPr>
              <a:t>C  Short-notice, short stay</a:t>
            </a:r>
            <a:endParaRPr lang="en-US" sz="1600" dirty="0"/>
          </a:p>
          <a:p>
            <a:pPr indent="0" marL="0">
              <a:spcAft>
                <a:spcPts val="500"/>
              </a:spcAft>
              <a:buNone/>
            </a:pPr>
            <a:r>
              <a:rPr lang="en-US" sz="1200" dirty="0">
                <a:solidFill>
                  <a:schemeClr val="accent3"/>
                </a:solidFill>
              </a:rPr>
              <a:t>42% of bookings, 32% of cancellations</a:t>
            </a:r>
            <a:endParaRPr lang="en-US" sz="1600" dirty="0"/>
          </a:p>
          <a:p>
            <a:pPr indent="0" marL="0">
              <a:spcAft>
                <a:spcPts val="500"/>
              </a:spcAft>
              <a:buNone/>
            </a:pPr>
            <a:r>
              <a:rPr lang="en-US" sz="1400" dirty="0">
                <a:solidFill>
                  <a:schemeClr val="tx1"/>
                </a:solidFill>
              </a:rPr>
              <a:t>Booked about 6 weeks ahead for 2 nights.</a:t>
            </a:r>
            <a:endParaRPr lang="en-US" sz="1600" dirty="0"/>
          </a:p>
          <a:p>
            <a:pPr indent="0" marL="0">
              <a:spcAft>
                <a:spcPts val="500"/>
              </a:spcAft>
              <a:buNone/>
            </a:pPr>
            <a:r>
              <a:rPr lang="en-US" sz="1400" b="1" dirty="0">
                <a:solidFill>
                  <a:schemeClr val="tx2"/>
                </a:solidFill>
              </a:rPr>
              <a:t>Standard policy with an automated reminder.</a:t>
            </a:r>
            <a:endParaRPr lang="en-US" sz="1600" dirty="0"/>
          </a:p>
        </p:txBody>
      </p:sp>
      <p:sp>
        <p:nvSpPr>
          <p:cNvPr id="12" name="Segment card D"/>
          <p:cNvSpPr/>
          <p:nvPr/>
        </p:nvSpPr>
        <p:spPr>
          <a:xfrm>
            <a:off x="8613648" y="3749040"/>
            <a:ext cx="3026664" cy="1828800"/>
          </a:xfrm>
          <a:prstGeom prst="roundRect">
            <a:avLst>
              <a:gd name="adj" fmla="val 4000"/>
            </a:avLst>
          </a:prstGeom>
          <a:solidFill>
            <a:schemeClr val="bg2"/>
          </a:solidFill>
          <a:ln w="12700">
            <a:solidFill>
              <a:schemeClr val="bg2"/>
            </a:solidFill>
            <a:prstDash val="solid"/>
          </a:ln>
        </p:spPr>
      </p:sp>
      <p:sp>
        <p:nvSpPr>
          <p:cNvPr id="13" name="Segment text D"/>
          <p:cNvSpPr txBox="1"/>
          <p:nvPr/>
        </p:nvSpPr>
        <p:spPr>
          <a:xfrm>
            <a:off x="8778240" y="3858768"/>
            <a:ext cx="2697480" cy="1609344"/>
          </a:xfrm>
          <a:prstGeom prst="rect">
            <a:avLst/>
          </a:prstGeom>
          <a:noFill/>
          <a:ln/>
        </p:spPr>
        <p:txBody>
          <a:bodyPr wrap="square" lIns="0" tIns="0" rIns="0" bIns="0" rtlCol="0" anchor="t"/>
          <a:lstStyle/>
          <a:p>
            <a:pPr indent="0" marL="0">
              <a:spcAft>
                <a:spcPts val="500"/>
              </a:spcAft>
              <a:buNone/>
            </a:pPr>
            <a:r>
              <a:rPr lang="en-US" sz="1600" b="1" dirty="0">
                <a:solidFill>
                  <a:schemeClr val="accent1"/>
                </a:solidFill>
              </a:rPr>
              <a:t>D  Engaged guests</a:t>
            </a:r>
            <a:endParaRPr lang="en-US" sz="1600" dirty="0"/>
          </a:p>
          <a:p>
            <a:pPr indent="0" marL="0">
              <a:spcAft>
                <a:spcPts val="500"/>
              </a:spcAft>
              <a:buNone/>
            </a:pPr>
            <a:r>
              <a:rPr lang="en-US" sz="1200" dirty="0">
                <a:solidFill>
                  <a:schemeClr val="accent3"/>
                </a:solidFill>
              </a:rPr>
              <a:t>26% of bookings, 13% of cancellations</a:t>
            </a:r>
            <a:endParaRPr lang="en-US" sz="1600" dirty="0"/>
          </a:p>
          <a:p>
            <a:pPr indent="0" marL="0">
              <a:spcAft>
                <a:spcPts val="500"/>
              </a:spcAft>
              <a:buNone/>
            </a:pPr>
            <a:r>
              <a:rPr lang="en-US" sz="1400" dirty="0">
                <a:solidFill>
                  <a:schemeClr val="tx1"/>
                </a:solidFill>
              </a:rPr>
              <a:t>Most special requests, longest stays (4 nights).</a:t>
            </a:r>
            <a:endParaRPr lang="en-US" sz="1600" dirty="0"/>
          </a:p>
          <a:p>
            <a:pPr indent="0" marL="0">
              <a:spcAft>
                <a:spcPts val="500"/>
              </a:spcAft>
              <a:buNone/>
            </a:pPr>
            <a:r>
              <a:rPr lang="en-US" sz="1400" b="1" dirty="0">
                <a:solidFill>
                  <a:schemeClr val="tx2"/>
                </a:solidFill>
              </a:rPr>
              <a:t>Keep terms flexible; prioritise service.</a:t>
            </a:r>
            <a:endParaRPr lang="en-US" sz="1600" dirty="0"/>
          </a:p>
        </p:txBody>
      </p:sp>
      <p:sp>
        <p:nvSpPr>
          <p:cNvPr id="14" name="Segment takeaway"/>
          <p:cNvSpPr txBox="1"/>
          <p:nvPr/>
        </p:nvSpPr>
        <p:spPr>
          <a:xfrm>
            <a:off x="548640" y="5779008"/>
            <a:ext cx="11091672" cy="365760"/>
          </a:xfrm>
          <a:prstGeom prst="rect">
            <a:avLst/>
          </a:prstGeom>
          <a:noFill/>
          <a:ln/>
        </p:spPr>
        <p:txBody>
          <a:bodyPr wrap="square" lIns="0" tIns="0" rIns="0" bIns="0" rtlCol="0" anchor="ctr"/>
          <a:lstStyle/>
          <a:p>
            <a:pPr indent="0" marL="0">
              <a:buNone/>
            </a:pPr>
            <a:r>
              <a:rPr lang="en-US" sz="1400" b="1" dirty="0">
                <a:solidFill>
                  <a:schemeClr val="tx2"/>
                </a:solidFill>
              </a:rPr>
              <a:t>Segment A is 1 booking in 5 but 2 cancellations in 5: deposits and reconfirmation pay off most here.</a:t>
            </a:r>
            <a:endParaRPr lang="en-US" sz="1400" dirty="0"/>
          </a:p>
        </p:txBody>
      </p:sp>
      <p:sp>
        <p:nvSpPr>
          <p:cNvPr id="15" name="Source note"/>
          <p:cNvSpPr txBox="1"/>
          <p:nvPr/>
        </p:nvSpPr>
        <p:spPr>
          <a:xfrm>
            <a:off x="548640" y="6382512"/>
            <a:ext cx="10332720" cy="274320"/>
          </a:xfrm>
          <a:prstGeom prst="rect">
            <a:avLst/>
          </a:prstGeom>
          <a:noFill/>
          <a:ln/>
        </p:spPr>
        <p:txBody>
          <a:bodyPr wrap="square" lIns="0" tIns="0" rIns="0" bIns="0" rtlCol="0" anchor="ctr"/>
          <a:lstStyle/>
          <a:p>
            <a:pPr indent="0" marL="0">
              <a:buNone/>
            </a:pPr>
            <a:r>
              <a:rPr lang="en-US" sz="1000" dirty="0">
                <a:solidFill>
                  <a:schemeClr val="accent3"/>
                </a:solidFill>
              </a:rPr>
              <a:t>K-means in R on lead time, room price, special requests, nights and guests (all 36,275 bookings). Segments overlap: use them for policy, the forest score for single bookings.</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Hotel Cancellation M5">
  <a:themeElements>
    <a:clrScheme name="Hotel Cancellation M5">
      <a:dk1>
        <a:srgbClr val="1A1A1A"/>
      </a:dk1>
      <a:lt1>
        <a:srgbClr val="FFFFFF"/>
      </a:lt1>
      <a:dk2>
        <a:srgbClr val="1F3A5F"/>
      </a:dk2>
      <a:lt2>
        <a:srgbClr val="EEF3F9"/>
      </a:lt2>
      <a:accent1>
        <a:srgbClr val="2E75B6"/>
      </a:accent1>
      <a:accent2>
        <a:srgbClr val="E07B39"/>
      </a:accent2>
      <a:accent3>
        <a:srgbClr val="6B7280"/>
      </a:accent3>
      <a:accent4>
        <a:srgbClr val="5B9BD5"/>
      </a:accent4>
      <a:accent5>
        <a:srgbClr val="F4B183"/>
      </a:accent5>
      <a:accent6>
        <a:srgbClr val="A5A5A5"/>
      </a:accent6>
      <a:hlink>
        <a:srgbClr val="2E75B6"/>
      </a:hlink>
      <a:folHlink>
        <a:srgbClr val="1F3A5F"/>
      </a:folHlink>
    </a:clrScheme>
    <a:fontScheme name="Hotel Cancellation M5">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Member 5 - CART, Random Forest and Clustering</dc:title>
  <dc:subject>PptxGenJS Presentation</dc:subject>
  <dc:creator>Chen Chen</dc:creator>
  <cp:lastModifiedBy>Chen Chen</cp:lastModifiedBy>
  <cp:revision>1</cp:revision>
  <dcterms:created xsi:type="dcterms:W3CDTF">2026-10-03T09:41:06Z</dcterms:created>
  <dcterms:modified xsi:type="dcterms:W3CDTF">2026-10-03T09:41:06Z</dcterms:modified>
</cp:coreProperties>
</file>